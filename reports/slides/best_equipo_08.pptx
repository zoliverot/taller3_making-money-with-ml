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4" r:id="rId2"/>
    <p:sldId id="268" r:id="rId3"/>
    <p:sldId id="271" r:id="rId4"/>
    <p:sldId id="267" r:id="rId5"/>
    <p:sldId id="272" r:id="rId6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24/11/2025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3 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smtClean="0"/>
              <a:t>with </a:t>
            </a:r>
            <a:r>
              <a:rPr lang="es-CO" b="1" dirty="0"/>
              <a:t>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best_equipo_08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MEJOR MODELO RANDOM FOREST CV ESPACIAL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5576" y="1916832"/>
                <a:ext cx="8388424" cy="41764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s-CO" sz="1600" b="1" dirty="0"/>
                  <a:t>Razonamiento detrás del ensamble </a:t>
                </a:r>
                <a:r>
                  <a:rPr lang="es-CO" sz="1600" b="1" dirty="0" err="1"/>
                  <a:t>Random</a:t>
                </a:r>
                <a:r>
                  <a:rPr lang="es-CO" sz="1600" b="1" dirty="0"/>
                  <a:t> Forest con CV espacial</a:t>
                </a:r>
              </a:p>
              <a:p>
                <a:r>
                  <a:rPr lang="es-CO" sz="1600" b="1" dirty="0"/>
                  <a:t>Datos usados: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𝑒𝑠𝑡𝑟𝑢𝑐𝑡𝑢𝑟𝑎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𝑎𝑚𝑒𝑛𝑖𝑑𝑎𝑑𝑒𝑠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𝑑𝑖𝑠𝑡𝑎𝑛𝑐𝑖𝑎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𝑙𝑜𝑐𝑎𝑐𝑖</m:t>
                              </m:r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𝑡𝑖𝑒𝑚𝑝𝑜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𝑡𝑖𝑝𝑜</m:t>
                              </m:r>
                            </m:sup>
                          </m:sSubSup>
                        </m:e>
                      </m:d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r>
                  <a:rPr lang="es-CO" sz="1600" dirty="0"/>
                  <a:t/>
                </a:r>
                <a:br>
                  <a:rPr lang="es-CO" sz="1600" dirty="0"/>
                </a:br>
                <a:r>
                  <a:rPr lang="es-ES" sz="1600" dirty="0"/>
                  <a:t>La función f captura no linealidades e interacciones entre estructura, amenidades, distancias y ubicación.</a:t>
                </a:r>
                <a:endParaRPr lang="es-CO" sz="1600" dirty="0"/>
              </a:p>
              <a:p>
                <a:r>
                  <a:rPr lang="es-CO" sz="1600" b="1" dirty="0"/>
                  <a:t>Complementariedad estructural:</a:t>
                </a:r>
                <a:endParaRPr lang="es-CO" sz="1600" dirty="0"/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:r>
                  <a:rPr lang="en-US" altLang="en-US" sz="1600" dirty="0"/>
                  <a:t>Se </a:t>
                </a:r>
                <a:r>
                  <a:rPr lang="en-US" altLang="en-US" sz="1600" dirty="0" err="1"/>
                  <a:t>quitaron</a:t>
                </a:r>
                <a:r>
                  <a:rPr lang="en-US" altLang="en-US" sz="1600" dirty="0"/>
                  <a:t> columnas de </a:t>
                </a:r>
                <a:r>
                  <a:rPr lang="en-US" altLang="en-US" sz="1600" b="1" dirty="0" err="1"/>
                  <a:t>varianza</a:t>
                </a:r>
                <a:r>
                  <a:rPr lang="en-US" altLang="en-US" sz="1600" b="1" dirty="0"/>
                  <a:t> cero</a:t>
                </a:r>
                <a:r>
                  <a:rPr lang="en-US" altLang="en-US" sz="1600" dirty="0"/>
                  <a:t> y se </a:t>
                </a:r>
                <a:r>
                  <a:rPr lang="en-US" altLang="en-US" sz="1600" b="1" dirty="0" err="1"/>
                  <a:t>alinearon</a:t>
                </a:r>
                <a:r>
                  <a:rPr lang="en-US" altLang="en-US" sz="1600" b="1" dirty="0"/>
                  <a:t> </a:t>
                </a:r>
                <a:r>
                  <a:rPr lang="en-US" altLang="en-US" sz="1600" b="1" dirty="0" err="1"/>
                  <a:t>niveles</a:t>
                </a:r>
                <a:r>
                  <a:rPr lang="en-US" altLang="en-US" sz="1600" dirty="0"/>
                  <a:t> entre train/test.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en-US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altLang="en-US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alt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altLang="en-US" sz="1600" b="0" i="1" smtClean="0">
                            <a:latin typeface="Cambria Math" panose="02040503050406030204" pitchFamily="18" charset="0"/>
                          </a:rPr>
                          <m:t>𝑎𝑚𝑒𝑛𝑖𝑑𝑎𝑑𝑒𝑠</m:t>
                        </m:r>
                      </m:sup>
                    </m:sSubSup>
                  </m:oMath>
                </a14:m>
                <a:r>
                  <a:rPr lang="es-ES" sz="1600" dirty="0"/>
                  <a:t>     dummies indicando si cuenta con variables como garaje, etc.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𝑒𝑠𝑡𝑟𝑢𝑐𝑡𝑢𝑟𝑎</m:t>
                        </m:r>
                      </m:sup>
                    </m:sSubSup>
                  </m:oMath>
                </a14:m>
                <a:r>
                  <a:rPr lang="es-ES" sz="1600" b="1" dirty="0"/>
                  <a:t>     </a:t>
                </a:r>
                <a:r>
                  <a:rPr lang="es-ES" sz="1600" dirty="0"/>
                  <a:t>cantidad de habitaciones, baños, superficie, etc.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ES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𝑑𝑖𝑠𝑡𝑎𝑛𝑐𝑖𝑎</m:t>
                        </m:r>
                      </m:sup>
                    </m:sSubSup>
                  </m:oMath>
                </a14:m>
                <a:r>
                  <a:rPr lang="es-ES" sz="1600" dirty="0"/>
                  <a:t>     distancia a colegios, restaurantes etc.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CO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𝑙𝑜𝑐𝑎𝑐𝑖</m:t>
                        </m:r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s-CO" sz="1600" dirty="0"/>
                  <a:t>      localidad y barrio.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CO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𝑡𝑖𝑒𝑚𝑝𝑜</m:t>
                        </m:r>
                      </m:sup>
                    </m:sSubSup>
                  </m:oMath>
                </a14:m>
                <a:r>
                  <a:rPr lang="es-CO" sz="1600" dirty="0"/>
                  <a:t>     mes y año.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CO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𝑡𝑖𝑝𝑜</m:t>
                        </m:r>
                      </m:sup>
                    </m:sSubSup>
                  </m:oMath>
                </a14:m>
                <a:r>
                  <a:rPr lang="es-CO" sz="1600" dirty="0"/>
                  <a:t>      casa o apartamento.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:endParaRPr lang="en-US" altLang="en-US" sz="1600" dirty="0"/>
              </a:p>
              <a:p>
                <a:endParaRPr lang="es-CO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5576" y="1916832"/>
                <a:ext cx="8388424" cy="4176464"/>
              </a:xfrm>
              <a:blipFill>
                <a:blip r:embed="rId2"/>
                <a:stretch>
                  <a:fillRect l="-436" t="-4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D9FA43A4-DF03-B729-84EE-12CDB9E7439D}"/>
              </a:ext>
            </a:extLst>
          </p:cNvPr>
          <p:cNvSpPr/>
          <p:nvPr/>
        </p:nvSpPr>
        <p:spPr>
          <a:xfrm>
            <a:off x="2771800" y="3942120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ACFDE850-490A-65D9-5B8D-EC847F8EBB3B}"/>
              </a:ext>
            </a:extLst>
          </p:cNvPr>
          <p:cNvSpPr/>
          <p:nvPr/>
        </p:nvSpPr>
        <p:spPr>
          <a:xfrm>
            <a:off x="2771800" y="4221088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B7BA28A2-45D2-89CF-2AB9-CB96B7679DAC}"/>
              </a:ext>
            </a:extLst>
          </p:cNvPr>
          <p:cNvSpPr/>
          <p:nvPr/>
        </p:nvSpPr>
        <p:spPr>
          <a:xfrm>
            <a:off x="2555776" y="4509120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31FCA4AB-E72F-B92A-7E33-45FAD502C46E}"/>
              </a:ext>
            </a:extLst>
          </p:cNvPr>
          <p:cNvSpPr/>
          <p:nvPr/>
        </p:nvSpPr>
        <p:spPr>
          <a:xfrm>
            <a:off x="2505168" y="4797152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D8822F0A-10F9-4736-9E33-998D201F854A}"/>
              </a:ext>
            </a:extLst>
          </p:cNvPr>
          <p:cNvSpPr/>
          <p:nvPr/>
        </p:nvSpPr>
        <p:spPr>
          <a:xfrm>
            <a:off x="2396952" y="5065560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67DFCD23-5F26-A6AC-E5F6-CC2B37A8096C}"/>
              </a:ext>
            </a:extLst>
          </p:cNvPr>
          <p:cNvSpPr/>
          <p:nvPr/>
        </p:nvSpPr>
        <p:spPr>
          <a:xfrm>
            <a:off x="2195736" y="5373216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202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Random</a:t>
            </a:r>
            <a:r>
              <a:rPr lang="es-CO" altLang="es-CO" dirty="0"/>
              <a:t> Forest CV espacial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Usando el CV espacial se generalizaron mejor las zonas no vistas. El ensamble por </a:t>
            </a:r>
            <a:r>
              <a:rPr lang="es-ES" dirty="0" err="1"/>
              <a:t>folds</a:t>
            </a:r>
            <a:r>
              <a:rPr lang="es-ES" dirty="0"/>
              <a:t> reduce varianza y el bosque capta no linealidades e interacciones entre tamaño, ubicación, distancias y amenidades, entregando predicciones estables sin sobreajuste.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909DD69-D753-B1D1-93EE-4D3287566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2370580"/>
            <a:ext cx="8424780" cy="228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E733A3D-81DA-1927-89E1-BF089A3A9C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5576" y="1484784"/>
                <a:ext cx="8146157" cy="468052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s-MX" b="1" dirty="0"/>
                  <a:t>Validación por CV espacial</a:t>
                </a:r>
              </a:p>
              <a:p>
                <a:pPr marL="0" indent="0">
                  <a:buNone/>
                </a:pPr>
                <a:endParaRPr lang="es-MX" dirty="0"/>
              </a:p>
              <a:p>
                <a:r>
                  <a:rPr lang="es-ES" dirty="0"/>
                  <a:t>Valida por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𝑑𝑖𝑠𝑡𝑎𝑛𝑐𝑖𝑎</m:t>
                        </m:r>
                      </m:sup>
                    </m:sSubSup>
                  </m:oMath>
                </a14:m>
                <a:r>
                  <a:rPr lang="es-ES" dirty="0"/>
                  <a:t>, creando pliegues que no comparten área entre entrenamiento y validación (5 </a:t>
                </a:r>
                <a:r>
                  <a:rPr lang="es-ES" dirty="0" err="1"/>
                  <a:t>folds</a:t>
                </a:r>
                <a:r>
                  <a:rPr lang="es-ES" dirty="0"/>
                  <a:t>).</a:t>
                </a:r>
                <a:endParaRPr lang="es-MX" dirty="0"/>
              </a:p>
              <a:p>
                <a:pPr>
                  <a:spcBef>
                    <a:spcPct val="0"/>
                  </a:spcBef>
                </a:pPr>
                <a:r>
                  <a:rPr lang="en-US" altLang="en-US" b="1" dirty="0" err="1"/>
                  <a:t>Evidencia</a:t>
                </a:r>
                <a:r>
                  <a:rPr lang="en-US" altLang="en-US" b="1" dirty="0"/>
                  <a:t> </a:t>
                </a:r>
                <a:r>
                  <a:rPr lang="en-US" altLang="en-US" b="1" dirty="0" err="1"/>
                  <a:t>en</a:t>
                </a:r>
                <a:r>
                  <a:rPr lang="en-US" altLang="en-US" b="1" dirty="0"/>
                  <a:t> </a:t>
                </a:r>
                <a:r>
                  <a:rPr lang="en-US" altLang="en-US" b="1" dirty="0" err="1"/>
                  <a:t>nuestros</a:t>
                </a:r>
                <a:r>
                  <a:rPr lang="en-US" altLang="en-US" b="1" dirty="0"/>
                  <a:t> </a:t>
                </a:r>
                <a:r>
                  <a:rPr lang="en-US" altLang="en-US" b="1" dirty="0" err="1"/>
                  <a:t>resultados</a:t>
                </a:r>
                <a:r>
                  <a:rPr lang="en-US" altLang="en-US" b="1" dirty="0"/>
                  <a:t> (MAE):</a:t>
                </a:r>
              </a:p>
              <a:p>
                <a:pPr marL="857250" lvl="1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en-US" altLang="en-US" dirty="0"/>
                  <a:t>RF regular (CV </a:t>
                </a:r>
                <a:r>
                  <a:rPr lang="en-US" altLang="en-US" dirty="0" err="1"/>
                  <a:t>aleatoria</a:t>
                </a:r>
                <a:r>
                  <a:rPr lang="en-US" altLang="en-US" dirty="0"/>
                  <a:t>) → Kaggle 213,23 M.</a:t>
                </a:r>
              </a:p>
              <a:p>
                <a:pPr marL="857250" lvl="1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en-US" altLang="en-US" dirty="0"/>
                  <a:t>RF </a:t>
                </a:r>
                <a:r>
                  <a:rPr lang="en-US" altLang="en-US" dirty="0" err="1"/>
                  <a:t>espacial</a:t>
                </a:r>
                <a:r>
                  <a:rPr lang="en-US" altLang="en-US" dirty="0"/>
                  <a:t> (CV </a:t>
                </a:r>
                <a:r>
                  <a:rPr lang="en-US" altLang="en-US" dirty="0" err="1"/>
                  <a:t>por</a:t>
                </a:r>
                <a:r>
                  <a:rPr lang="en-US" altLang="en-US" dirty="0"/>
                  <a:t> zonas) → Kaggle 209,39 M.</a:t>
                </a:r>
              </a:p>
              <a:p>
                <a:pPr>
                  <a:spcBef>
                    <a:spcPct val="0"/>
                  </a:spcBef>
                </a:pPr>
                <a:r>
                  <a:rPr lang="en-US" altLang="en-US" dirty="0" err="1"/>
                  <a:t>Estimación</a:t>
                </a:r>
                <a:r>
                  <a:rPr lang="en-US" altLang="en-US" dirty="0"/>
                  <a:t> interna </a:t>
                </a:r>
                <a:r>
                  <a:rPr lang="en-US" altLang="en-US" dirty="0" err="1"/>
                  <a:t>más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realista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debido</a:t>
                </a:r>
                <a:r>
                  <a:rPr lang="en-US" altLang="en-US" dirty="0"/>
                  <a:t> a la </a:t>
                </a:r>
                <a:r>
                  <a:rPr lang="en-US" altLang="en-US" dirty="0" err="1"/>
                  <a:t>importancia</a:t>
                </a:r>
                <a:r>
                  <a:rPr lang="en-US" altLang="en-US" dirty="0"/>
                  <a:t> de la </a:t>
                </a:r>
                <a:r>
                  <a:rPr lang="en-US" altLang="en-US" dirty="0" err="1"/>
                  <a:t>ubicación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en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el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espacio</a:t>
                </a:r>
                <a:r>
                  <a:rPr lang="en-US" altLang="en-US" dirty="0"/>
                  <a:t> para </a:t>
                </a:r>
                <a:r>
                  <a:rPr lang="en-US" altLang="en-US" dirty="0" err="1"/>
                  <a:t>este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contexto</a:t>
                </a:r>
                <a:r>
                  <a:rPr lang="en-US" altLang="en-US" dirty="0"/>
                  <a:t>.</a:t>
                </a:r>
              </a:p>
              <a:p>
                <a:pPr>
                  <a:spcBef>
                    <a:spcPct val="0"/>
                  </a:spcBef>
                </a:pPr>
                <a:r>
                  <a:rPr lang="en-US" altLang="en-US" dirty="0"/>
                  <a:t>Es major usar CV </a:t>
                </a:r>
                <a:r>
                  <a:rPr lang="en-US" altLang="en-US" dirty="0" err="1"/>
                  <a:t>espacial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cuando</a:t>
                </a:r>
                <a:r>
                  <a:rPr lang="en-US" altLang="en-US" dirty="0"/>
                  <a:t> las features </a:t>
                </a:r>
                <a:r>
                  <a:rPr lang="en-US" altLang="en-US" dirty="0" err="1"/>
                  <a:t>incluyen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ubicación</a:t>
                </a:r>
                <a:r>
                  <a:rPr lang="en-US" altLang="en-US" dirty="0"/>
                  <a:t> y se </a:t>
                </a:r>
                <a:r>
                  <a:rPr lang="en-US" altLang="en-US" dirty="0" err="1"/>
                  <a:t>espera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que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el</a:t>
                </a:r>
                <a:r>
                  <a:rPr lang="en-US" altLang="en-US" dirty="0"/>
                  <a:t> test </a:t>
                </a:r>
                <a:r>
                  <a:rPr lang="en-US" altLang="en-US" dirty="0" err="1"/>
                  <a:t>provenga</a:t>
                </a:r>
                <a:r>
                  <a:rPr lang="en-US" altLang="en-US" dirty="0"/>
                  <a:t> de zonas </a:t>
                </a:r>
                <a:r>
                  <a:rPr lang="en-US" altLang="en-US" dirty="0" err="1"/>
                  <a:t>distintas</a:t>
                </a:r>
                <a:r>
                  <a:rPr lang="en-US" altLang="en-US" dirty="0"/>
                  <a:t> al train.</a:t>
                </a:r>
              </a:p>
              <a:p>
                <a:pPr>
                  <a:spcBef>
                    <a:spcPct val="0"/>
                  </a:spcBef>
                </a:pPr>
                <a:r>
                  <a:rPr lang="en-US" altLang="en-US" dirty="0"/>
                  <a:t>Contra: algo </a:t>
                </a:r>
                <a:r>
                  <a:rPr lang="en-US" altLang="en-US" dirty="0" err="1"/>
                  <a:t>más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costosa</a:t>
                </a:r>
                <a:r>
                  <a:rPr lang="en-US" altLang="en-US" dirty="0"/>
                  <a:t> y con mayor </a:t>
                </a:r>
                <a:r>
                  <a:rPr lang="en-US" altLang="en-US" dirty="0" err="1"/>
                  <a:t>varianza</a:t>
                </a:r>
                <a:r>
                  <a:rPr lang="en-US" altLang="en-US" dirty="0"/>
                  <a:t> entre </a:t>
                </a:r>
                <a:r>
                  <a:rPr lang="en-US" altLang="en-US" dirty="0" err="1"/>
                  <a:t>pliegues</a:t>
                </a:r>
                <a:r>
                  <a:rPr lang="en-US" altLang="en-US" dirty="0"/>
                  <a:t>, </a:t>
                </a:r>
                <a:r>
                  <a:rPr lang="en-US" altLang="en-US" dirty="0" err="1"/>
                  <a:t>pero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resulta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mejor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el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entrenamiento</a:t>
                </a:r>
                <a:r>
                  <a:rPr lang="en-US" altLang="en-US" dirty="0"/>
                  <a:t> para </a:t>
                </a:r>
                <a:r>
                  <a:rPr lang="en-US" altLang="en-US" dirty="0" err="1"/>
                  <a:t>generalizar</a:t>
                </a:r>
                <a:r>
                  <a:rPr lang="en-US" altLang="en-US" dirty="0"/>
                  <a:t> fuera de </a:t>
                </a:r>
                <a:r>
                  <a:rPr lang="en-US" altLang="en-US" dirty="0" err="1"/>
                  <a:t>muestra</a:t>
                </a:r>
                <a:r>
                  <a:rPr lang="en-US" altLang="en-US" dirty="0"/>
                  <a:t>.</a:t>
                </a:r>
                <a:endParaRPr lang="es-MX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E733A3D-81DA-1927-89E1-BF089A3A9C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5576" y="1484784"/>
                <a:ext cx="8146157" cy="4680520"/>
              </a:xfrm>
              <a:blipFill>
                <a:blip r:embed="rId2"/>
                <a:stretch>
                  <a:fillRect l="-823" t="-6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8104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3DB7-047B-77DA-8564-049F87A3D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4841DD-15F5-FC34-F585-A5A402B10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576" y="1772816"/>
            <a:ext cx="8146157" cy="3744416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Por qué este modelo fue el mejor</a:t>
            </a:r>
            <a:endParaRPr lang="es-MX" b="1" dirty="0"/>
          </a:p>
          <a:p>
            <a:pPr marL="0" indent="0">
              <a:buNone/>
            </a:pPr>
            <a:endParaRPr lang="es-MX" dirty="0"/>
          </a:p>
          <a:p>
            <a:pPr>
              <a:spcBef>
                <a:spcPct val="0"/>
              </a:spcBef>
            </a:pPr>
            <a:r>
              <a:rPr lang="en-US" altLang="en-US" dirty="0" err="1"/>
              <a:t>Generalizó</a:t>
            </a:r>
            <a:r>
              <a:rPr lang="en-US" altLang="en-US" dirty="0"/>
              <a:t> </a:t>
            </a:r>
            <a:r>
              <a:rPr lang="en-US" altLang="en-US" dirty="0" err="1"/>
              <a:t>mejor</a:t>
            </a:r>
            <a:r>
              <a:rPr lang="en-US" altLang="en-US" dirty="0"/>
              <a:t> a </a:t>
            </a:r>
            <a:r>
              <a:rPr lang="en-US" altLang="en-US" dirty="0" err="1"/>
              <a:t>áreas</a:t>
            </a:r>
            <a:r>
              <a:rPr lang="en-US" altLang="en-US" dirty="0"/>
              <a:t> no vistas, </a:t>
            </a:r>
            <a:r>
              <a:rPr lang="en-US" altLang="en-US" dirty="0" err="1"/>
              <a:t>reflejado</a:t>
            </a:r>
            <a:r>
              <a:rPr lang="en-US" altLang="en-US" dirty="0"/>
              <a:t> </a:t>
            </a:r>
            <a:r>
              <a:rPr lang="en-US" altLang="en-US" dirty="0" err="1"/>
              <a:t>en</a:t>
            </a:r>
            <a:r>
              <a:rPr lang="en-US" altLang="en-US" dirty="0"/>
              <a:t> </a:t>
            </a:r>
            <a:r>
              <a:rPr lang="en-US" altLang="en-US" dirty="0" err="1"/>
              <a:t>el</a:t>
            </a:r>
            <a:r>
              <a:rPr lang="en-US" altLang="en-US" dirty="0"/>
              <a:t> </a:t>
            </a:r>
            <a:r>
              <a:rPr lang="en-US" altLang="en-US" dirty="0" err="1"/>
              <a:t>menor</a:t>
            </a:r>
            <a:r>
              <a:rPr lang="en-US" altLang="en-US" dirty="0"/>
              <a:t> MAE </a:t>
            </a:r>
            <a:r>
              <a:rPr lang="en-US" altLang="en-US" dirty="0" err="1"/>
              <a:t>en</a:t>
            </a:r>
            <a:r>
              <a:rPr lang="en-US" altLang="en-US" dirty="0"/>
              <a:t> Kaggle </a:t>
            </a:r>
            <a:r>
              <a:rPr lang="en-US" altLang="en-US" dirty="0" err="1"/>
              <a:t>frente</a:t>
            </a:r>
            <a:r>
              <a:rPr lang="en-US" altLang="en-US" dirty="0"/>
              <a:t> al RF regular.</a:t>
            </a:r>
          </a:p>
          <a:p>
            <a:pPr>
              <a:spcBef>
                <a:spcPct val="0"/>
              </a:spcBef>
            </a:pPr>
            <a:r>
              <a:rPr lang="en-US" altLang="en-US" dirty="0"/>
              <a:t>El </a:t>
            </a:r>
            <a:r>
              <a:rPr lang="en-US" altLang="en-US" dirty="0" err="1"/>
              <a:t>ensamble</a:t>
            </a:r>
            <a:r>
              <a:rPr lang="en-US" altLang="en-US" dirty="0"/>
              <a:t> </a:t>
            </a:r>
            <a:r>
              <a:rPr lang="en-US" altLang="en-US" dirty="0" err="1"/>
              <a:t>por</a:t>
            </a:r>
            <a:r>
              <a:rPr lang="en-US" altLang="en-US" dirty="0"/>
              <a:t> folds </a:t>
            </a:r>
            <a:r>
              <a:rPr lang="en-US" altLang="en-US" dirty="0" err="1"/>
              <a:t>espaciales</a:t>
            </a:r>
            <a:r>
              <a:rPr lang="en-US" altLang="en-US" dirty="0"/>
              <a:t> </a:t>
            </a:r>
            <a:r>
              <a:rPr lang="en-US" altLang="en-US" dirty="0" err="1"/>
              <a:t>redujo</a:t>
            </a:r>
            <a:r>
              <a:rPr lang="en-US" altLang="en-US" dirty="0"/>
              <a:t> la </a:t>
            </a:r>
            <a:r>
              <a:rPr lang="en-US" altLang="en-US" dirty="0" err="1"/>
              <a:t>varianza</a:t>
            </a:r>
            <a:r>
              <a:rPr lang="en-US" altLang="en-US" dirty="0"/>
              <a:t> de las </a:t>
            </a:r>
            <a:r>
              <a:rPr lang="en-US" altLang="en-US" dirty="0" err="1"/>
              <a:t>predicciones</a:t>
            </a:r>
            <a:r>
              <a:rPr lang="en-US" altLang="en-US" dirty="0"/>
              <a:t>.</a:t>
            </a:r>
          </a:p>
          <a:p>
            <a:pPr>
              <a:spcBef>
                <a:spcPct val="0"/>
              </a:spcBef>
            </a:pPr>
            <a:r>
              <a:rPr lang="en-US" altLang="en-US" dirty="0"/>
              <a:t>El bosque </a:t>
            </a:r>
            <a:r>
              <a:rPr lang="en-US" altLang="en-US" dirty="0" err="1"/>
              <a:t>capturó</a:t>
            </a:r>
            <a:r>
              <a:rPr lang="en-US" altLang="en-US" dirty="0"/>
              <a:t> no </a:t>
            </a:r>
            <a:r>
              <a:rPr lang="en-US" altLang="en-US" dirty="0" err="1"/>
              <a:t>linealidades</a:t>
            </a:r>
            <a:r>
              <a:rPr lang="en-US" altLang="en-US" dirty="0"/>
              <a:t> e </a:t>
            </a:r>
            <a:r>
              <a:rPr lang="en-US" altLang="en-US" dirty="0" err="1"/>
              <a:t>interacciones</a:t>
            </a:r>
            <a:r>
              <a:rPr lang="en-US" altLang="en-US" dirty="0"/>
              <a:t> entre </a:t>
            </a:r>
            <a:r>
              <a:rPr lang="en-US" altLang="en-US" dirty="0" err="1"/>
              <a:t>tamaño</a:t>
            </a:r>
            <a:r>
              <a:rPr lang="en-US" altLang="en-US" dirty="0"/>
              <a:t>, </a:t>
            </a:r>
            <a:r>
              <a:rPr lang="en-US" altLang="en-US" dirty="0" err="1"/>
              <a:t>ubicación</a:t>
            </a:r>
            <a:r>
              <a:rPr lang="en-US" altLang="en-US" dirty="0"/>
              <a:t>, </a:t>
            </a:r>
            <a:r>
              <a:rPr lang="en-US" altLang="en-US" dirty="0" err="1"/>
              <a:t>distancias</a:t>
            </a:r>
            <a:r>
              <a:rPr lang="en-US" altLang="en-US" dirty="0"/>
              <a:t> y </a:t>
            </a:r>
            <a:r>
              <a:rPr lang="en-US" altLang="en-US" dirty="0" err="1"/>
              <a:t>amenidades</a:t>
            </a:r>
            <a:r>
              <a:rPr lang="en-US" altLang="en-US" dirty="0"/>
              <a:t> sin </a:t>
            </a:r>
            <a:r>
              <a:rPr lang="en-US" altLang="en-US" dirty="0" err="1"/>
              <a:t>sobreajuste</a:t>
            </a:r>
            <a:r>
              <a:rPr lang="en-US" altLang="en-US" dirty="0"/>
              <a:t>.</a:t>
            </a:r>
          </a:p>
          <a:p>
            <a:pPr>
              <a:spcBef>
                <a:spcPct val="0"/>
              </a:spcBef>
            </a:pPr>
            <a:r>
              <a:rPr lang="en-US" altLang="en-US" dirty="0"/>
              <a:t>Pipeline simple y </a:t>
            </a:r>
            <a:r>
              <a:rPr lang="en-US" altLang="en-US" dirty="0" err="1"/>
              <a:t>robusto</a:t>
            </a:r>
            <a:r>
              <a:rPr lang="en-US" altLang="en-US" dirty="0"/>
              <a:t> (sin </a:t>
            </a:r>
            <a:r>
              <a:rPr lang="en-US" altLang="en-US" dirty="0" err="1"/>
              <a:t>varianza</a:t>
            </a:r>
            <a:r>
              <a:rPr lang="en-US" altLang="en-US" dirty="0"/>
              <a:t> cero y dummies </a:t>
            </a:r>
            <a:r>
              <a:rPr lang="en-US" altLang="en-US" dirty="0" err="1"/>
              <a:t>consistentes</a:t>
            </a:r>
            <a:r>
              <a:rPr lang="en-US" altLang="en-US" dirty="0"/>
              <a:t>) </a:t>
            </a:r>
            <a:r>
              <a:rPr lang="en-US" altLang="en-US" dirty="0" err="1"/>
              <a:t>aplicado</a:t>
            </a:r>
            <a:r>
              <a:rPr lang="en-US" altLang="en-US" dirty="0"/>
              <a:t> </a:t>
            </a:r>
            <a:r>
              <a:rPr lang="en-US" altLang="en-US" dirty="0" err="1"/>
              <a:t>dentro</a:t>
            </a:r>
            <a:r>
              <a:rPr lang="en-US" altLang="en-US" dirty="0"/>
              <a:t> de </a:t>
            </a:r>
            <a:r>
              <a:rPr lang="en-US" altLang="en-US" dirty="0" err="1"/>
              <a:t>cada</a:t>
            </a:r>
            <a:r>
              <a:rPr lang="en-US" altLang="en-US" dirty="0"/>
              <a:t> fold.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452912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166</Words>
  <Application>Microsoft Office PowerPoint</Application>
  <PresentationFormat>Presentación en pantalla (4:3)</PresentationFormat>
  <Paragraphs>37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Tema de Office</vt:lpstr>
      <vt:lpstr>VIVIAN CABANZO FERNÁNDEZ LAURA DANIELA DIAZ TORRES CRISTIAN FELIPE MUÑOZ GUERRERO ZENNETH OLIVERO TAPIA</vt:lpstr>
      <vt:lpstr>Presentación de PowerPoint</vt:lpstr>
      <vt:lpstr>Random Forest CV espacial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Laura Diaz Torres</cp:lastModifiedBy>
  <cp:revision>64</cp:revision>
  <dcterms:created xsi:type="dcterms:W3CDTF">2008-03-12T20:06:52Z</dcterms:created>
  <dcterms:modified xsi:type="dcterms:W3CDTF">2025-11-25T03:46:25Z</dcterms:modified>
</cp:coreProperties>
</file>