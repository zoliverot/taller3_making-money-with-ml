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64" r:id="rId2"/>
    <p:sldId id="266" r:id="rId3"/>
    <p:sldId id="268" r:id="rId4"/>
    <p:sldId id="265" r:id="rId5"/>
    <p:sldId id="267" r:id="rId6"/>
  </p:sldIdLst>
  <p:sldSz cx="9144000" cy="6858000" type="screen4x3"/>
  <p:notesSz cx="6858000" cy="9144000"/>
  <p:defaultTextStyle>
    <a:defPPr>
      <a:defRPr lang="es-CO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72" d="100"/>
          <a:sy n="72" d="100"/>
        </p:scale>
        <p:origin x="1470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>
            <a:extLst>
              <a:ext uri="{FF2B5EF4-FFF2-40B4-BE49-F238E27FC236}">
                <a16:creationId xmlns:a16="http://schemas.microsoft.com/office/drawing/2014/main" id="{BE92C949-3083-DDAE-E552-734562EA9E6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s-CO"/>
          </a:p>
        </p:txBody>
      </p:sp>
      <p:sp>
        <p:nvSpPr>
          <p:cNvPr id="3" name="2 Marcador de fecha">
            <a:extLst>
              <a:ext uri="{FF2B5EF4-FFF2-40B4-BE49-F238E27FC236}">
                <a16:creationId xmlns:a16="http://schemas.microsoft.com/office/drawing/2014/main" id="{4CC3DC6C-364C-00C5-19A9-017DFB754B11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fld id="{1D4BBDB3-7AC8-49E5-9A73-4603E77AAF12}" type="datetimeFigureOut">
              <a:rPr lang="es-CO"/>
              <a:pPr>
                <a:defRPr/>
              </a:pPr>
              <a:t>23/11/2025</a:t>
            </a:fld>
            <a:endParaRPr lang="es-CO"/>
          </a:p>
        </p:txBody>
      </p:sp>
      <p:sp>
        <p:nvSpPr>
          <p:cNvPr id="4" name="3 Marcador de imagen de diapositiva">
            <a:extLst>
              <a:ext uri="{FF2B5EF4-FFF2-40B4-BE49-F238E27FC236}">
                <a16:creationId xmlns:a16="http://schemas.microsoft.com/office/drawing/2014/main" id="{C0328E3C-D08F-2CFD-E068-74D797026F0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s-CO" noProof="0"/>
          </a:p>
        </p:txBody>
      </p:sp>
      <p:sp>
        <p:nvSpPr>
          <p:cNvPr id="5" name="4 Marcador de notas">
            <a:extLst>
              <a:ext uri="{FF2B5EF4-FFF2-40B4-BE49-F238E27FC236}">
                <a16:creationId xmlns:a16="http://schemas.microsoft.com/office/drawing/2014/main" id="{45816F43-1B19-21F2-19C9-1E219C6A74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noProof="0"/>
              <a:t>Haga clic para modificar el estilo de texto del patrón</a:t>
            </a:r>
          </a:p>
          <a:p>
            <a:pPr lvl="1"/>
            <a:r>
              <a:rPr lang="es-ES" noProof="0"/>
              <a:t>Segundo nivel</a:t>
            </a:r>
          </a:p>
          <a:p>
            <a:pPr lvl="2"/>
            <a:r>
              <a:rPr lang="es-ES" noProof="0"/>
              <a:t>Tercer nivel</a:t>
            </a:r>
          </a:p>
          <a:p>
            <a:pPr lvl="3"/>
            <a:r>
              <a:rPr lang="es-ES" noProof="0"/>
              <a:t>Cuarto nivel</a:t>
            </a:r>
          </a:p>
          <a:p>
            <a:pPr lvl="4"/>
            <a:r>
              <a:rPr lang="es-ES" noProof="0"/>
              <a:t>Quinto nivel</a:t>
            </a:r>
            <a:endParaRPr lang="es-CO" noProof="0"/>
          </a:p>
        </p:txBody>
      </p:sp>
      <p:sp>
        <p:nvSpPr>
          <p:cNvPr id="6" name="5 Marcador de pie de página">
            <a:extLst>
              <a:ext uri="{FF2B5EF4-FFF2-40B4-BE49-F238E27FC236}">
                <a16:creationId xmlns:a16="http://schemas.microsoft.com/office/drawing/2014/main" id="{7C4F3668-4F73-3EC3-24D1-DA1841FF191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s-CO"/>
          </a:p>
        </p:txBody>
      </p:sp>
      <p:sp>
        <p:nvSpPr>
          <p:cNvPr id="7" name="6 Marcador de número de diapositiva">
            <a:extLst>
              <a:ext uri="{FF2B5EF4-FFF2-40B4-BE49-F238E27FC236}">
                <a16:creationId xmlns:a16="http://schemas.microsoft.com/office/drawing/2014/main" id="{0F7CBC64-78FB-9714-7AB3-781A9D2623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fld id="{005A61EF-A413-4572-B9C0-15D2EEC59714}" type="slidenum">
              <a:rPr lang="es-CO" altLang="es-CO"/>
              <a:pPr/>
              <a:t>‹Nº›</a:t>
            </a:fld>
            <a:endParaRPr lang="es-CO" altLang="es-CO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1 Marcador de imagen de diapositiva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099" name="2 Marcador de notas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s-CO" altLang="es-CO"/>
          </a:p>
        </p:txBody>
      </p:sp>
      <p:sp>
        <p:nvSpPr>
          <p:cNvPr id="4100" name="3 Marcador de número de diapositiva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667249F-F2BE-47F2-A8AB-0992E5DC4653}" type="slidenum">
              <a:rPr lang="es-CO" altLang="es-CO" smtClean="0"/>
              <a:pPr>
                <a:spcBef>
                  <a:spcPct val="0"/>
                </a:spcBef>
              </a:pPr>
              <a:t>1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41703272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5 Marcador de número de diapositiva">
            <a:extLst>
              <a:ext uri="{FF2B5EF4-FFF2-40B4-BE49-F238E27FC236}">
                <a16:creationId xmlns:a16="http://schemas.microsoft.com/office/drawing/2014/main" id="{C22D8B77-C1D3-0A00-A869-65B12D839A4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9BD7C764-0E45-4505-817A-12909C5376F6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41778623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5 Marcador de número de diapositiva">
            <a:extLst>
              <a:ext uri="{FF2B5EF4-FFF2-40B4-BE49-F238E27FC236}">
                <a16:creationId xmlns:a16="http://schemas.microsoft.com/office/drawing/2014/main" id="{E64F5B6D-0F88-EA15-C860-E322D68B04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FDA47513-D27B-4AEA-A85D-B9DD5D2AB3F7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7553465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5 Marcador de número de diapositiva">
            <a:extLst>
              <a:ext uri="{FF2B5EF4-FFF2-40B4-BE49-F238E27FC236}">
                <a16:creationId xmlns:a16="http://schemas.microsoft.com/office/drawing/2014/main" id="{61A83241-5594-598F-1BF5-FA5C0DC0D06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20A769A3-85E2-4839-8E5E-8A5436FF1AC9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40527564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5 Marcador de número de diapositiva">
            <a:extLst>
              <a:ext uri="{FF2B5EF4-FFF2-40B4-BE49-F238E27FC236}">
                <a16:creationId xmlns:a16="http://schemas.microsoft.com/office/drawing/2014/main" id="{5C5AD3D6-62F2-FCB9-7094-234CDAE3116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7D69B23B-F899-451E-B145-7F8D8886E878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33437076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5 Marcador de número de diapositiva">
            <a:extLst>
              <a:ext uri="{FF2B5EF4-FFF2-40B4-BE49-F238E27FC236}">
                <a16:creationId xmlns:a16="http://schemas.microsoft.com/office/drawing/2014/main" id="{D3A27087-6EC7-2356-65C7-D71AE73E81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C9C251DF-3702-4306-959F-3E2BD82C35BF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2513135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5 Marcador de número de diapositiva">
            <a:extLst>
              <a:ext uri="{FF2B5EF4-FFF2-40B4-BE49-F238E27FC236}">
                <a16:creationId xmlns:a16="http://schemas.microsoft.com/office/drawing/2014/main" id="{2F30945E-3CCA-CF02-2FC4-E0C6EC7F43B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815CC389-7F26-4725-9023-4E3F23451391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977543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5 Marcador de número de diapositiva">
            <a:extLst>
              <a:ext uri="{FF2B5EF4-FFF2-40B4-BE49-F238E27FC236}">
                <a16:creationId xmlns:a16="http://schemas.microsoft.com/office/drawing/2014/main" id="{1F36965F-0DB7-FDB6-1BDC-C060CB82D0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CDE93947-508A-45BE-86AE-62D57ACA10CB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5762139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5 Marcador de número de diapositiva">
            <a:extLst>
              <a:ext uri="{FF2B5EF4-FFF2-40B4-BE49-F238E27FC236}">
                <a16:creationId xmlns:a16="http://schemas.microsoft.com/office/drawing/2014/main" id="{36C5A0EE-9FB2-FEB2-6878-507E202ECC0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F7B7450B-753A-4D0C-B28A-0047C690496A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6795485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s-CO" noProof="0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5 Marcador de número de diapositiva">
            <a:extLst>
              <a:ext uri="{FF2B5EF4-FFF2-40B4-BE49-F238E27FC236}">
                <a16:creationId xmlns:a16="http://schemas.microsoft.com/office/drawing/2014/main" id="{384546BB-A4E5-3B58-2ACB-27A5C74B19E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D55E326B-E61B-404A-91AD-F3330371B9CB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36568024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e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1 Marcador de título">
            <a:extLst>
              <a:ext uri="{FF2B5EF4-FFF2-40B4-BE49-F238E27FC236}">
                <a16:creationId xmlns:a16="http://schemas.microsoft.com/office/drawing/2014/main" id="{5CB46EE3-431F-BB36-CA9D-04500F827348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071563" y="1785938"/>
            <a:ext cx="8229600" cy="5000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s-ES" altLang="es-CO"/>
              <a:t>Haga clic para modificar el estilo de título del patrón</a:t>
            </a:r>
            <a:endParaRPr lang="es-CO" altLang="es-CO"/>
          </a:p>
        </p:txBody>
      </p:sp>
      <p:sp>
        <p:nvSpPr>
          <p:cNvPr id="1027" name="2 Marcador de texto">
            <a:extLst>
              <a:ext uri="{FF2B5EF4-FFF2-40B4-BE49-F238E27FC236}">
                <a16:creationId xmlns:a16="http://schemas.microsoft.com/office/drawing/2014/main" id="{401DA00B-C6A8-2C61-B79B-B7D77AF7FC15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1071563" y="2500313"/>
            <a:ext cx="7858125" cy="4143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" altLang="es-CO"/>
              <a:t>Haga clic para modificar el estilo de texto del patrón</a:t>
            </a:r>
          </a:p>
          <a:p>
            <a:pPr lvl="1"/>
            <a:r>
              <a:rPr lang="es-ES" altLang="es-CO"/>
              <a:t>Segundo nivel</a:t>
            </a:r>
          </a:p>
          <a:p>
            <a:pPr lvl="2"/>
            <a:r>
              <a:rPr lang="es-ES" altLang="es-CO"/>
              <a:t>Tercer nivel</a:t>
            </a:r>
          </a:p>
          <a:p>
            <a:pPr lvl="3"/>
            <a:r>
              <a:rPr lang="es-ES" altLang="es-CO"/>
              <a:t>Cuarto nivel</a:t>
            </a:r>
          </a:p>
          <a:p>
            <a:pPr lvl="4"/>
            <a:r>
              <a:rPr lang="es-ES" altLang="es-CO"/>
              <a:t>Quinto nivel</a:t>
            </a:r>
            <a:endParaRPr lang="es-CO" altLang="es-CO"/>
          </a:p>
        </p:txBody>
      </p:sp>
      <p:sp>
        <p:nvSpPr>
          <p:cNvPr id="6" name="5 Marcador de número de diapositiva">
            <a:extLst>
              <a:ext uri="{FF2B5EF4-FFF2-40B4-BE49-F238E27FC236}">
                <a16:creationId xmlns:a16="http://schemas.microsoft.com/office/drawing/2014/main" id="{CAA3CB7F-6069-7DE9-612F-7EB7AE84F6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3825" y="6421438"/>
            <a:ext cx="59055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eaLnBrk="1" hangingPunct="1">
              <a:defRPr b="1"/>
            </a:lvl1pPr>
          </a:lstStyle>
          <a:p>
            <a:fld id="{4D557006-C754-4C49-B04C-609781B5F229}" type="slidenum">
              <a:rPr lang="es-CO" altLang="es-CO"/>
              <a:pPr/>
              <a:t>‹Nº›</a:t>
            </a:fld>
            <a:endParaRPr lang="es-CO" altLang="es-CO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 kern="1200">
          <a:solidFill>
            <a:schemeClr val="tx1"/>
          </a:solidFill>
          <a:latin typeface="Arial" pitchFamily="34" charset="0"/>
          <a:ea typeface="+mj-ea"/>
          <a:cs typeface="Arial" pitchFamily="34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12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1 Título"/>
          <p:cNvSpPr>
            <a:spLocks noGrp="1"/>
          </p:cNvSpPr>
          <p:nvPr>
            <p:ph type="ctrTitle"/>
          </p:nvPr>
        </p:nvSpPr>
        <p:spPr>
          <a:xfrm>
            <a:off x="1259632" y="1340768"/>
            <a:ext cx="7772400" cy="1793875"/>
          </a:xfrm>
        </p:spPr>
        <p:txBody>
          <a:bodyPr/>
          <a:lstStyle/>
          <a:p>
            <a:pPr algn="ctr" eaLnBrk="1" hangingPunct="1"/>
            <a:r>
              <a:rPr lang="es-CO" altLang="es-CO" dirty="0"/>
              <a:t>VIVIAN CABANZO FERNÁNDEZ</a:t>
            </a:r>
            <a:br>
              <a:rPr lang="es-CO" altLang="es-CO" dirty="0"/>
            </a:br>
            <a:r>
              <a:rPr lang="es-CO" altLang="es-CO" dirty="0"/>
              <a:t>LAURA DANIELA DIAZ TORRES</a:t>
            </a:r>
            <a:br>
              <a:rPr lang="es-CO" altLang="es-CO" dirty="0"/>
            </a:br>
            <a:r>
              <a:rPr lang="es-CO" altLang="es-CO" dirty="0"/>
              <a:t>CRISTIAN FELIPE MUÑOZ GUERRERO</a:t>
            </a:r>
            <a:br>
              <a:rPr lang="es-CO" altLang="es-CO" dirty="0"/>
            </a:br>
            <a:r>
              <a:rPr lang="es-CO" altLang="es-CO" dirty="0"/>
              <a:t>ZENNETH OLIVERO TAPIA</a:t>
            </a:r>
          </a:p>
        </p:txBody>
      </p:sp>
      <p:sp>
        <p:nvSpPr>
          <p:cNvPr id="3" name="2 Subtítulo">
            <a:extLst>
              <a:ext uri="{FF2B5EF4-FFF2-40B4-BE49-F238E27FC236}">
                <a16:creationId xmlns:a16="http://schemas.microsoft.com/office/drawing/2014/main" id="{6A67B959-F5C7-E461-4D06-04057BB871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19672" y="3284984"/>
            <a:ext cx="6400800" cy="3233216"/>
          </a:xfrm>
        </p:spPr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s-CO" b="1" dirty="0" err="1"/>
              <a:t>Problem</a:t>
            </a:r>
            <a:r>
              <a:rPr lang="es-CO" b="1" dirty="0"/>
              <a:t> Set 3 – </a:t>
            </a:r>
            <a:r>
              <a:rPr lang="es-CO" b="1" dirty="0" err="1"/>
              <a:t>Making</a:t>
            </a:r>
            <a:r>
              <a:rPr lang="es-CO" b="1" dirty="0"/>
              <a:t> Money </a:t>
            </a:r>
            <a:r>
              <a:rPr lang="es-CO" b="1" dirty="0" err="1"/>
              <a:t>wit</a:t>
            </a:r>
            <a:r>
              <a:rPr lang="es-CO" b="1" dirty="0"/>
              <a:t> ML?</a:t>
            </a:r>
          </a:p>
          <a:p>
            <a:pPr eaLnBrk="1" fontAlgn="auto" hangingPunct="1">
              <a:spcAft>
                <a:spcPts val="0"/>
              </a:spcAft>
              <a:defRPr/>
            </a:pPr>
            <a:endParaRPr lang="es-CO" b="1" dirty="0"/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s-CO" b="1" dirty="0"/>
              <a:t>BIG DATA Y MACHINE LEARNING PARA ECONOMIA APLICADA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s-CO" b="1" dirty="0"/>
              <a:t>2025-02</a:t>
            </a:r>
          </a:p>
          <a:p>
            <a:pPr eaLnBrk="1" fontAlgn="auto" hangingPunct="1">
              <a:spcAft>
                <a:spcPts val="0"/>
              </a:spcAft>
              <a:defRPr/>
            </a:pPr>
            <a:endParaRPr lang="es-CO" b="1" dirty="0"/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s-CO" dirty="0"/>
              <a:t>best_equipo_08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s-CO" b="1" dirty="0"/>
              <a:t>MEJOR MODELO RANDOM FOREST CV ESPACIAL</a:t>
            </a:r>
          </a:p>
        </p:txBody>
      </p:sp>
    </p:spTree>
    <p:extLst>
      <p:ext uri="{BB962C8B-B14F-4D97-AF65-F5344CB8AC3E}">
        <p14:creationId xmlns:p14="http://schemas.microsoft.com/office/powerpoint/2010/main" val="38175887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E6764B55-0F86-90CD-D38E-6E2CDCF539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7584" y="3645024"/>
            <a:ext cx="8176800" cy="2448272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C4399D47-E4BB-B304-EB39-9AD9BFE3F47E}"/>
              </a:ext>
            </a:extLst>
          </p:cNvPr>
          <p:cNvSpPr txBox="1"/>
          <p:nvPr/>
        </p:nvSpPr>
        <p:spPr>
          <a:xfrm>
            <a:off x="755576" y="2204864"/>
            <a:ext cx="81768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dirty="0"/>
              <a:t>El objetivo fue </a:t>
            </a:r>
            <a:r>
              <a:rPr lang="es-MX" b="1" dirty="0"/>
              <a:t>reducir la varianza</a:t>
            </a:r>
            <a:r>
              <a:rPr lang="es-MX" dirty="0"/>
              <a:t> y </a:t>
            </a:r>
            <a:r>
              <a:rPr lang="es-MX" b="1" dirty="0"/>
              <a:t>mejorar la estabilidad</a:t>
            </a:r>
            <a:r>
              <a:rPr lang="es-MX" dirty="0"/>
              <a:t> de las predicciones frente al desbalance de clases (</a:t>
            </a:r>
            <a:r>
              <a:rPr lang="es-MX" i="1" dirty="0"/>
              <a:t>Pobre: 20%, </a:t>
            </a:r>
            <a:r>
              <a:rPr lang="es-MX" i="1" dirty="0" err="1"/>
              <a:t>NoPobre</a:t>
            </a:r>
            <a:r>
              <a:rPr lang="es-MX" i="1" dirty="0"/>
              <a:t>: 80%</a:t>
            </a:r>
            <a:r>
              <a:rPr lang="es-MX" dirty="0"/>
              <a:t>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O" dirty="0"/>
              <a:t>Se entrenó con </a:t>
            </a:r>
            <a:r>
              <a:rPr lang="es-CO" b="1" dirty="0"/>
              <a:t>validación cruzada estratificada</a:t>
            </a:r>
            <a:r>
              <a:rPr lang="es-CO" dirty="0"/>
              <a:t> (5-fold para XGB, 3-fold para CART) y ponderación de clases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22669622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346CC9CF-3B4E-D5D7-EF51-197780FA79C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55576" y="1916832"/>
                <a:ext cx="8424936" cy="4176464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s-CO" sz="1600" b="1" dirty="0"/>
                  <a:t>Razonamiento detrás del ensamble </a:t>
                </a:r>
                <a:r>
                  <a:rPr lang="es-CO" sz="1600" b="1" dirty="0" err="1"/>
                  <a:t>XGBoost</a:t>
                </a:r>
                <a:r>
                  <a:rPr lang="es-CO" sz="1600" b="1" dirty="0"/>
                  <a:t> + CART</a:t>
                </a:r>
              </a:p>
              <a:p>
                <a:r>
                  <a:rPr lang="es-CO" sz="1600" b="1" dirty="0"/>
                  <a:t>Motivación principal:</a:t>
                </a:r>
                <a:br>
                  <a:rPr lang="es-CO" sz="1600" dirty="0"/>
                </a:br>
                <a:r>
                  <a:rPr lang="es-CO" sz="1600" dirty="0" err="1"/>
                  <a:t>XGBoost</a:t>
                </a:r>
                <a:r>
                  <a:rPr lang="es-CO" sz="1600" dirty="0"/>
                  <a:t> es un modelo altamente predictivo pero complejo (poca interpretabilidad), mientras que CART es simple y transparente pero con menor capacidad predictiva.</a:t>
                </a:r>
              </a:p>
              <a:p>
                <a:pPr marL="0" indent="0">
                  <a:buNone/>
                </a:pPr>
                <a:br>
                  <a:rPr lang="es-CO" sz="1600" dirty="0"/>
                </a:br>
                <a:r>
                  <a:rPr lang="es-CO" sz="1600" b="1" dirty="0"/>
                  <a:t>Combinarlos permite equilibrar precisión y </a:t>
                </a:r>
                <a:r>
                  <a:rPr lang="es-CO" sz="1600" b="1" dirty="0" err="1"/>
                  <a:t>explicabilidad</a:t>
                </a:r>
                <a:endParaRPr lang="es-CO" sz="1600" b="1" dirty="0"/>
              </a:p>
              <a:p>
                <a:pPr marL="0" indent="0">
                  <a:buNone/>
                </a:pPr>
                <a:endParaRPr lang="es-CO" sz="1600" dirty="0"/>
              </a:p>
              <a:p>
                <a:r>
                  <a:rPr lang="es-CO" sz="1600" b="1" dirty="0"/>
                  <a:t>Complementariedad estructural:</a:t>
                </a:r>
                <a:endParaRPr lang="es-CO" sz="1600" dirty="0"/>
              </a:p>
              <a:p>
                <a:pPr lvl="1"/>
                <a:r>
                  <a:rPr lang="es-CO" sz="1600" b="1" dirty="0" err="1"/>
                  <a:t>XGBoost</a:t>
                </a:r>
                <a:r>
                  <a:rPr lang="es-CO" sz="1600" dirty="0"/>
                  <a:t> reduce el sesgo mediante </a:t>
                </a:r>
                <a:r>
                  <a:rPr lang="es-CO" sz="1600" i="1" dirty="0" err="1"/>
                  <a:t>boosting</a:t>
                </a:r>
                <a:r>
                  <a:rPr lang="es-CO" sz="1600" i="1" dirty="0"/>
                  <a:t> secuencial</a:t>
                </a:r>
                <a:r>
                  <a:rPr lang="es-CO" sz="1600" dirty="0"/>
                  <a:t>, capturando relaciones no lineales y complejas.</a:t>
                </a:r>
              </a:p>
              <a:p>
                <a:pPr lvl="1"/>
                <a:r>
                  <a:rPr lang="es-CO" sz="1600" b="1" dirty="0"/>
                  <a:t>CART</a:t>
                </a:r>
                <a:r>
                  <a:rPr lang="es-CO" sz="1600" dirty="0"/>
                  <a:t> reduce la varianza al ser un modelo único, interpretable y con divisiones claras</a:t>
                </a:r>
              </a:p>
              <a:p>
                <a:pPr lvl="1"/>
                <a:endParaRPr lang="es-CO" sz="1600" b="1" dirty="0"/>
              </a:p>
              <a:p>
                <a:pPr marL="457200" lvl="1" indent="0">
                  <a:buNone/>
                </a:pPr>
                <a:r>
                  <a:rPr lang="es-CO" sz="1600" b="1" dirty="0"/>
                  <a:t>Motivo técnico:</a:t>
                </a:r>
                <a:endParaRPr lang="es-CO" sz="16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1600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s-CO" sz="1600" i="1"/>
                            <m:t>ensamble</m:t>
                          </m:r>
                        </m:sub>
                      </m:sSub>
                      <m:r>
                        <a:rPr lang="ar-AE" sz="16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sz="1600" i="1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ar-AE" sz="160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ar-AE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1600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ar-AE" sz="1600" i="1">
                              <a:latin typeface="Cambria Math" panose="02040503050406030204" pitchFamily="18" charset="0"/>
                            </a:rPr>
                            <m:t>𝑋𝐺𝐵</m:t>
                          </m:r>
                        </m:sub>
                      </m:sSub>
                      <m:r>
                        <a:rPr lang="ar-AE" sz="160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ar-AE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sz="160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ar-AE" sz="160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 sz="16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ar-AE" sz="160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ar-AE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1600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ar-AE" sz="1600" i="1">
                              <a:latin typeface="Cambria Math" panose="02040503050406030204" pitchFamily="18" charset="0"/>
                            </a:rPr>
                            <m:t>𝐶𝐴𝑅𝑇</m:t>
                          </m:r>
                        </m:sub>
                      </m:sSub>
                    </m:oMath>
                  </m:oMathPara>
                </a14:m>
                <a:endParaRPr lang="ar-AE" sz="1600" b="0" dirty="0"/>
              </a:p>
              <a:p>
                <a:endParaRPr lang="es-CO" dirty="0"/>
              </a:p>
            </p:txBody>
          </p:sp>
        </mc:Choice>
        <mc:Fallback xmlns=""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346CC9CF-3B4E-D5D7-EF51-197780FA79C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55576" y="1916832"/>
                <a:ext cx="8424936" cy="4176464"/>
              </a:xfrm>
              <a:blipFill>
                <a:blip r:embed="rId2"/>
                <a:stretch>
                  <a:fillRect l="-434" t="-437" r="-868" b="-292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582026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Marcador de contenido 3">
            <a:extLst>
              <a:ext uri="{FF2B5EF4-FFF2-40B4-BE49-F238E27FC236}">
                <a16:creationId xmlns:a16="http://schemas.microsoft.com/office/drawing/2014/main" id="{3B87F227-6905-4DCE-AE64-2AB556BDED1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8590" y="2132857"/>
            <a:ext cx="4445409" cy="3384376"/>
          </a:xfrm>
        </p:spPr>
      </p:pic>
      <p:sp>
        <p:nvSpPr>
          <p:cNvPr id="13" name="CuadroTexto 12">
            <a:extLst>
              <a:ext uri="{FF2B5EF4-FFF2-40B4-BE49-F238E27FC236}">
                <a16:creationId xmlns:a16="http://schemas.microsoft.com/office/drawing/2014/main" id="{9AC394BC-2E57-F734-4DAB-CE20424F2E2A}"/>
              </a:ext>
            </a:extLst>
          </p:cNvPr>
          <p:cNvSpPr txBox="1"/>
          <p:nvPr/>
        </p:nvSpPr>
        <p:spPr>
          <a:xfrm>
            <a:off x="827584" y="1700808"/>
            <a:ext cx="3888432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1200" b="1" dirty="0" err="1"/>
              <a:t>XGBoost</a:t>
            </a:r>
            <a:r>
              <a:rPr lang="es-CO" sz="1200" b="1" dirty="0"/>
              <a:t> – </a:t>
            </a:r>
            <a:r>
              <a:rPr lang="es-CO" sz="1200" b="1" dirty="0" err="1"/>
              <a:t>Grid</a:t>
            </a:r>
            <a:r>
              <a:rPr lang="es-CO" sz="1200" b="1" dirty="0"/>
              <a:t> </a:t>
            </a:r>
            <a:r>
              <a:rPr lang="es-CO" sz="1200" b="1" dirty="0" err="1"/>
              <a:t>Search</a:t>
            </a:r>
            <a:r>
              <a:rPr lang="es-CO" sz="1200" b="1" dirty="0"/>
              <a:t>:</a:t>
            </a:r>
          </a:p>
          <a:p>
            <a:r>
              <a:rPr lang="es-CO" sz="1200" dirty="0"/>
              <a:t>𝑛𝑟𝑜𝑢𝑛𝑑𝑠=600, 𝑚𝑎𝑥_𝑑𝑒𝑝𝑡ℎ=3–4, 𝜂=0.05, 𝛾=1, 𝑠𝑢𝑏𝑠𝑎𝑚𝑝𝑙𝑒=0.8, 𝑐𝑜𝑙𝑠𝑎𝑚𝑝𝑙𝑒_𝑏𝑦𝑡𝑟𝑒𝑒=0.7</a:t>
            </a:r>
          </a:p>
          <a:p>
            <a:endParaRPr lang="es-CO" sz="1200" dirty="0"/>
          </a:p>
          <a:p>
            <a:r>
              <a:rPr lang="es-CO" sz="1200" dirty="0"/>
              <a:t>Árboles poco profundos → control del sobreajuste.</a:t>
            </a:r>
          </a:p>
          <a:p>
            <a:r>
              <a:rPr lang="es-CO" sz="1200" dirty="0"/>
              <a:t>Tasa de aprendizaje baja → entrenamiento estable.</a:t>
            </a:r>
          </a:p>
          <a:p>
            <a:r>
              <a:rPr lang="es-CO" sz="1200" dirty="0"/>
              <a:t>Submuestreo → mayor diversidad y regularización implícita.</a:t>
            </a:r>
          </a:p>
          <a:p>
            <a:endParaRPr lang="es-CO" sz="1200" dirty="0"/>
          </a:p>
          <a:p>
            <a:r>
              <a:rPr lang="es-CO" sz="1200" b="1" dirty="0"/>
              <a:t>CART – Complejidad del árbol:</a:t>
            </a:r>
          </a:p>
          <a:p>
            <a:pPr algn="ctr"/>
            <a:r>
              <a:rPr lang="es-CO" sz="1200" dirty="0"/>
              <a:t>𝑐𝑝∈[0.001,0.01]</a:t>
            </a:r>
          </a:p>
          <a:p>
            <a:endParaRPr lang="es-CO" sz="1200" dirty="0"/>
          </a:p>
          <a:p>
            <a:r>
              <a:rPr lang="es-CO" sz="1200" dirty="0" err="1"/>
              <a:t>cp</a:t>
            </a:r>
            <a:r>
              <a:rPr lang="es-CO" sz="1200" dirty="0"/>
              <a:t>=0.001 fue el valor óptimo, equilibrando simplicidad e interpretabilidad.</a:t>
            </a:r>
          </a:p>
          <a:p>
            <a:r>
              <a:rPr lang="es-CO" sz="1200" dirty="0"/>
              <a:t>Poda efectiva: evita divisiones sin ganancia de información.</a:t>
            </a:r>
          </a:p>
          <a:p>
            <a:endParaRPr lang="es-CO" sz="1200" dirty="0"/>
          </a:p>
          <a:p>
            <a:r>
              <a:rPr lang="es-CO" sz="1200" b="1" dirty="0"/>
              <a:t>Optimización conjunta:</a:t>
            </a:r>
          </a:p>
          <a:p>
            <a:r>
              <a:rPr lang="es-CO" sz="1200" dirty="0"/>
              <a:t>𝑤𝑋𝐺𝐵=0.9, 𝑐𝑢𝑡𝑜𝑓𝑓=0.556</a:t>
            </a:r>
          </a:p>
          <a:p>
            <a:r>
              <a:rPr lang="es-CO" sz="1200" dirty="0"/>
              <a:t>Máximo F1 = 0.547 → equilibrio entre precisión y </a:t>
            </a:r>
            <a:r>
              <a:rPr lang="es-CO" sz="1200" dirty="0" err="1"/>
              <a:t>recall</a:t>
            </a:r>
            <a:r>
              <a:rPr lang="es-CO" sz="1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635028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E733A3D-81DA-1927-89E1-BF089A3A9C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3608" y="1484784"/>
            <a:ext cx="7858125" cy="4143375"/>
          </a:xfrm>
        </p:spPr>
        <p:txBody>
          <a:bodyPr/>
          <a:lstStyle/>
          <a:p>
            <a:pPr marL="0" indent="0">
              <a:buNone/>
            </a:pPr>
            <a:r>
              <a:rPr lang="es-MX" b="1" dirty="0"/>
              <a:t>Conclusiones</a:t>
            </a:r>
          </a:p>
          <a:p>
            <a:pPr marL="0" indent="0">
              <a:buNone/>
            </a:pPr>
            <a:endParaRPr lang="es-MX" dirty="0"/>
          </a:p>
          <a:p>
            <a:r>
              <a:rPr lang="es-MX" dirty="0"/>
              <a:t>Según los resultados de la validación cruzada interna, el ensamble mostró el mejor equilibrio entre precisión e interpretabilidad.</a:t>
            </a:r>
          </a:p>
          <a:p>
            <a:r>
              <a:rPr lang="es-MX" dirty="0"/>
              <a:t>La combinación de </a:t>
            </a:r>
            <a:r>
              <a:rPr lang="es-MX" dirty="0" err="1"/>
              <a:t>XGBoost</a:t>
            </a:r>
            <a:r>
              <a:rPr lang="es-MX" dirty="0"/>
              <a:t> y CART permitió reducir la varianza y mejorar la estabilidad de las predicciones, integrando potencia predictiva y capacidad explicativa.</a:t>
            </a:r>
          </a:p>
          <a:p>
            <a:r>
              <a:rPr lang="es-MX" dirty="0"/>
              <a:t>El uso del F1-score como métrica central alineó el proceso de ajuste con el objetivo del estudio: maximizar la detección de hogares pobres minimizando los falsos negativos.</a:t>
            </a:r>
          </a:p>
          <a:p>
            <a:r>
              <a:rPr lang="es-MX" dirty="0"/>
              <a:t>Aunque los resultados finales en el conjunto de prueba de </a:t>
            </a:r>
            <a:r>
              <a:rPr lang="es-MX" dirty="0" err="1"/>
              <a:t>Kaggle</a:t>
            </a:r>
            <a:r>
              <a:rPr lang="es-MX" dirty="0"/>
              <a:t> no son observables, el enfoque demostró ser robusto, replicable y extensible a nuevos modelos base.</a:t>
            </a:r>
          </a:p>
          <a:p>
            <a:pPr marL="0" indent="0">
              <a:buNone/>
            </a:pP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382810423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497</TotalTime>
  <Words>397</Words>
  <Application>Microsoft Office PowerPoint</Application>
  <PresentationFormat>Presentación en pantalla (4:3)</PresentationFormat>
  <Paragraphs>43</Paragraphs>
  <Slides>5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9" baseType="lpstr">
      <vt:lpstr>Arial</vt:lpstr>
      <vt:lpstr>Calibri</vt:lpstr>
      <vt:lpstr>Cambria Math</vt:lpstr>
      <vt:lpstr>Tema de Office</vt:lpstr>
      <vt:lpstr>VIVIAN CABANZO FERNÁNDEZ LAURA DANIELA DIAZ TORRES CRISTIAN FELIPE MUÑOZ GUERRERO ZENNETH OLIVERO TAPIA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Diapositiva 1</dc:title>
  <dc:creator>Hugo</dc:creator>
  <cp:lastModifiedBy>EXT CRISTIAN FELIPE MUÑOZ GUERRERO</cp:lastModifiedBy>
  <cp:revision>60</cp:revision>
  <dcterms:created xsi:type="dcterms:W3CDTF">2008-03-12T20:06:52Z</dcterms:created>
  <dcterms:modified xsi:type="dcterms:W3CDTF">2025-11-24T00:12:43Z</dcterms:modified>
</cp:coreProperties>
</file>