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4" r:id="rId2"/>
    <p:sldId id="271" r:id="rId3"/>
    <p:sldId id="268" r:id="rId4"/>
    <p:sldId id="265" r:id="rId5"/>
    <p:sldId id="267" r:id="rId6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16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23/11/2025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3 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dirty="0" err="1"/>
              <a:t>wit</a:t>
            </a:r>
            <a:r>
              <a:rPr lang="es-CO" b="1" dirty="0"/>
              <a:t> 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best_equipo_08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MEJOR MODELO RANDOM FOREST CV ESPACIAL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916832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Random</a:t>
            </a:r>
            <a:r>
              <a:rPr lang="es-CO" altLang="es-CO" dirty="0"/>
              <a:t> Forest CV espacial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F5ABE4-E37F-C457-F840-318F45C07DB3}"/>
              </a:ext>
            </a:extLst>
          </p:cNvPr>
          <p:cNvSpPr txBox="1"/>
          <p:nvPr/>
        </p:nvSpPr>
        <p:spPr>
          <a:xfrm>
            <a:off x="1043608" y="5013176"/>
            <a:ext cx="71652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Usando el CV espacial se generalizaron mejor las zonas no vistas. El ensamble por </a:t>
            </a:r>
            <a:r>
              <a:rPr lang="es-ES" dirty="0" err="1"/>
              <a:t>folds</a:t>
            </a:r>
            <a:r>
              <a:rPr lang="es-ES" dirty="0"/>
              <a:t> reduce varianza y el bosque capta no linealidades e interacciones entre tamaño, ubicación, distancias y amenidades, entregando predicciones estables sin sobreajuste.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909DD69-D753-B1D1-93EE-4D3287566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2370580"/>
            <a:ext cx="8424780" cy="228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5576" y="1916832"/>
                <a:ext cx="8424936" cy="417646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s-CO" sz="1600" b="1" dirty="0"/>
                  <a:t>Razonamiento detrás del ensamble </a:t>
                </a:r>
                <a:r>
                  <a:rPr lang="es-CO" sz="1600" b="1" dirty="0" err="1"/>
                  <a:t>XGBoost</a:t>
                </a:r>
                <a:r>
                  <a:rPr lang="es-CO" sz="1600" b="1" dirty="0"/>
                  <a:t> + CART</a:t>
                </a:r>
              </a:p>
              <a:p>
                <a:r>
                  <a:rPr lang="es-CO" sz="1600" b="1" dirty="0"/>
                  <a:t>Motivación principal:</a:t>
                </a:r>
                <a:br>
                  <a:rPr lang="es-CO" sz="1600" dirty="0"/>
                </a:br>
                <a:r>
                  <a:rPr lang="es-CO" sz="1600" dirty="0" err="1"/>
                  <a:t>XGBoost</a:t>
                </a:r>
                <a:r>
                  <a:rPr lang="es-CO" sz="1600" dirty="0"/>
                  <a:t> es un modelo altamente predictivo pero complejo (poca interpretabilidad), mientras que CART es simple y transparente pero con menor capacidad predictiva.</a:t>
                </a:r>
              </a:p>
              <a:p>
                <a:pPr marL="0" indent="0">
                  <a:buNone/>
                </a:pPr>
                <a:br>
                  <a:rPr lang="es-CO" sz="1600" dirty="0"/>
                </a:br>
                <a:r>
                  <a:rPr lang="es-CO" sz="1600" b="1" dirty="0"/>
                  <a:t>Combinarlos permite equilibrar precisión y </a:t>
                </a:r>
                <a:r>
                  <a:rPr lang="es-CO" sz="1600" b="1" dirty="0" err="1"/>
                  <a:t>explicabilidad</a:t>
                </a:r>
                <a:endParaRPr lang="es-CO" sz="1600" b="1" dirty="0"/>
              </a:p>
              <a:p>
                <a:pPr marL="0" indent="0">
                  <a:buNone/>
                </a:pPr>
                <a:endParaRPr lang="es-CO" sz="1600" dirty="0"/>
              </a:p>
              <a:p>
                <a:r>
                  <a:rPr lang="es-CO" sz="1600" b="1" dirty="0"/>
                  <a:t>Complementariedad estructural:</a:t>
                </a:r>
                <a:endParaRPr lang="es-CO" sz="1600" dirty="0"/>
              </a:p>
              <a:p>
                <a:pPr lvl="1"/>
                <a:r>
                  <a:rPr lang="es-CO" sz="1600" b="1" dirty="0" err="1"/>
                  <a:t>XGBoost</a:t>
                </a:r>
                <a:r>
                  <a:rPr lang="es-CO" sz="1600" dirty="0"/>
                  <a:t> reduce el sesgo mediante </a:t>
                </a:r>
                <a:r>
                  <a:rPr lang="es-CO" sz="1600" i="1" dirty="0" err="1"/>
                  <a:t>boosting</a:t>
                </a:r>
                <a:r>
                  <a:rPr lang="es-CO" sz="1600" i="1" dirty="0"/>
                  <a:t> secuencial</a:t>
                </a:r>
                <a:r>
                  <a:rPr lang="es-CO" sz="1600" dirty="0"/>
                  <a:t>, capturando relaciones no lineales y complejas.</a:t>
                </a:r>
              </a:p>
              <a:p>
                <a:pPr lvl="1"/>
                <a:r>
                  <a:rPr lang="es-CO" sz="1600" b="1" dirty="0"/>
                  <a:t>CART</a:t>
                </a:r>
                <a:r>
                  <a:rPr lang="es-CO" sz="1600" dirty="0"/>
                  <a:t> reduce la varianza al ser un modelo único, interpretable y con divisiones claras</a:t>
                </a:r>
              </a:p>
              <a:p>
                <a:pPr lvl="1"/>
                <a:endParaRPr lang="es-CO" sz="1600" b="1" dirty="0"/>
              </a:p>
              <a:p>
                <a:pPr marL="457200" lvl="1" indent="0">
                  <a:buNone/>
                </a:pPr>
                <a:r>
                  <a:rPr lang="es-CO" sz="1600" b="1" dirty="0"/>
                  <a:t>Motivo técnico:</a:t>
                </a:r>
                <a:endParaRPr lang="es-CO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s-CO" sz="1600" i="1"/>
                            <m:t>ensamble</m:t>
                          </m:r>
                        </m:sub>
                      </m:sSub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6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ar-AE" sz="16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𝑋𝐺𝐵</m:t>
                          </m:r>
                        </m:sub>
                      </m:sSub>
                      <m:r>
                        <a:rPr lang="ar-AE" sz="16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𝐶𝐴𝑅𝑇</m:t>
                          </m:r>
                        </m:sub>
                      </m:sSub>
                    </m:oMath>
                  </m:oMathPara>
                </a14:m>
                <a:endParaRPr lang="ar-AE" sz="1600" b="0" dirty="0"/>
              </a:p>
              <a:p>
                <a:endParaRPr lang="es-CO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5576" y="1916832"/>
                <a:ext cx="8424936" cy="4176464"/>
              </a:xfrm>
              <a:blipFill>
                <a:blip r:embed="rId2"/>
                <a:stretch>
                  <a:fillRect l="-434" t="-437" r="-868" b="-292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8202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3B87F227-6905-4DCE-AE64-2AB556BDED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590" y="2132857"/>
            <a:ext cx="4445409" cy="3384376"/>
          </a:xfr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9AC394BC-2E57-F734-4DAB-CE20424F2E2A}"/>
              </a:ext>
            </a:extLst>
          </p:cNvPr>
          <p:cNvSpPr txBox="1"/>
          <p:nvPr/>
        </p:nvSpPr>
        <p:spPr>
          <a:xfrm>
            <a:off x="827584" y="1700808"/>
            <a:ext cx="38884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200" b="1" dirty="0" err="1"/>
              <a:t>XGBoost</a:t>
            </a:r>
            <a:r>
              <a:rPr lang="es-CO" sz="1200" b="1" dirty="0"/>
              <a:t> – </a:t>
            </a:r>
            <a:r>
              <a:rPr lang="es-CO" sz="1200" b="1" dirty="0" err="1"/>
              <a:t>Grid</a:t>
            </a:r>
            <a:r>
              <a:rPr lang="es-CO" sz="1200" b="1" dirty="0"/>
              <a:t> </a:t>
            </a:r>
            <a:r>
              <a:rPr lang="es-CO" sz="1200" b="1" dirty="0" err="1"/>
              <a:t>Search</a:t>
            </a:r>
            <a:r>
              <a:rPr lang="es-CO" sz="1200" b="1" dirty="0"/>
              <a:t>:</a:t>
            </a:r>
          </a:p>
          <a:p>
            <a:r>
              <a:rPr lang="es-CO" sz="1200" dirty="0"/>
              <a:t>𝑛𝑟𝑜𝑢𝑛𝑑𝑠=600, 𝑚𝑎𝑥_𝑑𝑒𝑝𝑡ℎ=3–4, 𝜂=0.05, 𝛾=1, 𝑠𝑢𝑏𝑠𝑎𝑚𝑝𝑙𝑒=0.8, 𝑐𝑜𝑙𝑠𝑎𝑚𝑝𝑙𝑒_𝑏𝑦𝑡𝑟𝑒𝑒=0.7</a:t>
            </a:r>
          </a:p>
          <a:p>
            <a:endParaRPr lang="es-CO" sz="1200" dirty="0"/>
          </a:p>
          <a:p>
            <a:r>
              <a:rPr lang="es-CO" sz="1200" dirty="0"/>
              <a:t>Árboles poco profundos → control del sobreajuste.</a:t>
            </a:r>
          </a:p>
          <a:p>
            <a:r>
              <a:rPr lang="es-CO" sz="1200" dirty="0"/>
              <a:t>Tasa de aprendizaje baja → entrenamiento estable.</a:t>
            </a:r>
          </a:p>
          <a:p>
            <a:r>
              <a:rPr lang="es-CO" sz="1200" dirty="0"/>
              <a:t>Submuestreo → mayor diversidad y regularización implícita.</a:t>
            </a:r>
          </a:p>
          <a:p>
            <a:endParaRPr lang="es-CO" sz="1200" dirty="0"/>
          </a:p>
          <a:p>
            <a:r>
              <a:rPr lang="es-CO" sz="1200" b="1" dirty="0"/>
              <a:t>CART – Complejidad del árbol:</a:t>
            </a:r>
          </a:p>
          <a:p>
            <a:pPr algn="ctr"/>
            <a:r>
              <a:rPr lang="es-CO" sz="1200" dirty="0"/>
              <a:t>𝑐𝑝∈[0.001,0.01]</a:t>
            </a:r>
          </a:p>
          <a:p>
            <a:endParaRPr lang="es-CO" sz="1200" dirty="0"/>
          </a:p>
          <a:p>
            <a:r>
              <a:rPr lang="es-CO" sz="1200" dirty="0" err="1"/>
              <a:t>cp</a:t>
            </a:r>
            <a:r>
              <a:rPr lang="es-CO" sz="1200" dirty="0"/>
              <a:t>=0.001 fue el valor óptimo, equilibrando simplicidad e interpretabilidad.</a:t>
            </a:r>
          </a:p>
          <a:p>
            <a:r>
              <a:rPr lang="es-CO" sz="1200" dirty="0"/>
              <a:t>Poda efectiva: evita divisiones sin ganancia de información.</a:t>
            </a:r>
          </a:p>
          <a:p>
            <a:endParaRPr lang="es-CO" sz="1200" dirty="0"/>
          </a:p>
          <a:p>
            <a:r>
              <a:rPr lang="es-CO" sz="1200" b="1" dirty="0"/>
              <a:t>Optimización conjunta:</a:t>
            </a:r>
          </a:p>
          <a:p>
            <a:r>
              <a:rPr lang="es-CO" sz="1200" dirty="0"/>
              <a:t>𝑤𝑋𝐺𝐵=0.9, 𝑐𝑢𝑡𝑜𝑓𝑓=0.556</a:t>
            </a:r>
          </a:p>
          <a:p>
            <a:r>
              <a:rPr lang="es-CO" sz="1200" dirty="0"/>
              <a:t>Máximo F1 = 0.547 → equilibrio entre precisión y </a:t>
            </a:r>
            <a:r>
              <a:rPr lang="es-CO" sz="1200" dirty="0" err="1"/>
              <a:t>recall</a:t>
            </a:r>
            <a:r>
              <a:rPr lang="es-CO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733A3D-81DA-1927-89E1-BF089A3A9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3608" y="1484784"/>
            <a:ext cx="7858125" cy="4143375"/>
          </a:xfrm>
        </p:spPr>
        <p:txBody>
          <a:bodyPr/>
          <a:lstStyle/>
          <a:p>
            <a:pPr marL="0" indent="0">
              <a:buNone/>
            </a:pPr>
            <a:r>
              <a:rPr lang="es-MX" b="1" dirty="0"/>
              <a:t>Conclusiones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/>
              <a:t>Según los resultados de la validación cruzada interna, el ensamble mostró el mejor equilibrio entre precisión e interpretabilidad.</a:t>
            </a:r>
          </a:p>
          <a:p>
            <a:r>
              <a:rPr lang="es-MX" dirty="0"/>
              <a:t>La combinación de </a:t>
            </a:r>
            <a:r>
              <a:rPr lang="es-MX" dirty="0" err="1"/>
              <a:t>XGBoost</a:t>
            </a:r>
            <a:r>
              <a:rPr lang="es-MX" dirty="0"/>
              <a:t> y CART permitió reducir la varianza y mejorar la estabilidad de las predicciones, integrando potencia predictiva y capacidad explicativa.</a:t>
            </a:r>
          </a:p>
          <a:p>
            <a:r>
              <a:rPr lang="es-MX" dirty="0"/>
              <a:t>El uso del F1-score como métrica central alineó el proceso de ajuste con el objetivo del estudio: maximizar la detección de hogares pobres minimizando los falsos negativos.</a:t>
            </a:r>
          </a:p>
          <a:p>
            <a:r>
              <a:rPr lang="es-MX" dirty="0"/>
              <a:t>Aunque los resultados finales en el conjunto de prueba de </a:t>
            </a:r>
            <a:r>
              <a:rPr lang="es-MX" dirty="0" err="1"/>
              <a:t>Kaggle</a:t>
            </a:r>
            <a:r>
              <a:rPr lang="es-MX" dirty="0"/>
              <a:t> no son observables, el enfoque demostró ser robusto, replicable y extensible a nuevos modelos base.</a:t>
            </a:r>
          </a:p>
          <a:p>
            <a:pPr marL="0" indent="0">
              <a:buNone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281042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400</Words>
  <Application>Microsoft Office PowerPoint</Application>
  <PresentationFormat>Presentación en pantalla (4:3)</PresentationFormat>
  <Paragraphs>43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 Math</vt:lpstr>
      <vt:lpstr>Tema de Office</vt:lpstr>
      <vt:lpstr>VIVIAN CABANZO FERNÁNDEZ LAURA DANIELA DIAZ TORRES CRISTIAN FELIPE MUÑOZ GUERRERO ZENNETH OLIVERO TAPIA</vt:lpstr>
      <vt:lpstr>Best model overview – Random Forest CV espacial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EXT CRISTIAN FELIPE MUÑOZ GUERRERO</cp:lastModifiedBy>
  <cp:revision>61</cp:revision>
  <dcterms:created xsi:type="dcterms:W3CDTF">2008-03-12T20:06:52Z</dcterms:created>
  <dcterms:modified xsi:type="dcterms:W3CDTF">2025-11-24T00:25:47Z</dcterms:modified>
</cp:coreProperties>
</file>