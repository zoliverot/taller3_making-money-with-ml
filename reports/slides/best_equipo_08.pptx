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4" r:id="rId2"/>
    <p:sldId id="268" r:id="rId3"/>
    <p:sldId id="271" r:id="rId4"/>
    <p:sldId id="267" r:id="rId5"/>
  </p:sldIdLst>
  <p:sldSz cx="9144000" cy="6858000" type="screen4x3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193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BE92C949-3083-DDAE-E552-734562EA9E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CC3DC6C-364C-00C5-19A9-017DFB754B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4BBDB3-7AC8-49E5-9A73-4603E77AAF12}" type="datetimeFigureOut">
              <a:rPr lang="es-CO"/>
              <a:pPr>
                <a:defRPr/>
              </a:pPr>
              <a:t>24/11/2025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C0328E3C-D08F-2CFD-E068-74D797026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45816F43-1B19-21F2-19C9-1E219C6A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C4F3668-4F73-3EC3-24D1-DA1841FF19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0F7CBC64-78FB-9714-7AB3-781A9D26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05A61EF-A413-4572-B9C0-15D2EEC59714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41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7249F-F2BE-47F2-A8AB-0992E5DC4653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032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C22D8B77-C1D3-0A00-A869-65B12D839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D7C764-0E45-4505-817A-12909C5376F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78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E64F5B6D-0F88-EA15-C860-E322D68B0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47513-D27B-4AEA-A85D-B9DD5D2AB3F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5534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1A83241-5594-598F-1BF5-FA5C0DC0D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A769A3-85E2-4839-8E5E-8A5436FF1AC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527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C5AD3D6-62F2-FCB9-7094-234CDAE3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69B23B-F899-451E-B145-7F8D8886E87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34370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D3A27087-6EC7-2356-65C7-D71AE73E8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C251DF-3702-4306-959F-3E2BD82C35B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5131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>
            <a:extLst>
              <a:ext uri="{FF2B5EF4-FFF2-40B4-BE49-F238E27FC236}">
                <a16:creationId xmlns:a16="http://schemas.microsoft.com/office/drawing/2014/main" id="{2F30945E-3CCA-CF02-2FC4-E0C6EC7F4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5CC389-7F26-4725-9023-4E3F2345139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775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>
            <a:extLst>
              <a:ext uri="{FF2B5EF4-FFF2-40B4-BE49-F238E27FC236}">
                <a16:creationId xmlns:a16="http://schemas.microsoft.com/office/drawing/2014/main" id="{1F36965F-0DB7-FDB6-1BDC-C060CB82D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93947-508A-45BE-86AE-62D57ACA10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7621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6C5A0EE-9FB2-FEB2-6878-507E202EC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B7450B-753A-4D0C-B28A-0047C69049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67954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84546BB-A4E5-3B58-2ACB-27A5C74B1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5E326B-E61B-404A-91AD-F3330371B9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5680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5CB46EE3-431F-BB36-CA9D-04500F8273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1563" y="1785938"/>
            <a:ext cx="8229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401DA00B-C6A8-2C61-B79B-B7D77AF7FC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71563" y="2500313"/>
            <a:ext cx="785812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AA3CB7F-6069-7DE9-612F-7EB7AE84F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25" y="6421438"/>
            <a:ext cx="5905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b="1"/>
            </a:lvl1pPr>
          </a:lstStyle>
          <a:p>
            <a:fld id="{4D557006-C754-4C49-B04C-609781B5F229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1 Título"/>
          <p:cNvSpPr>
            <a:spLocks noGrp="1"/>
          </p:cNvSpPr>
          <p:nvPr>
            <p:ph type="ctrTitle"/>
          </p:nvPr>
        </p:nvSpPr>
        <p:spPr>
          <a:xfrm>
            <a:off x="1259632" y="1340768"/>
            <a:ext cx="7772400" cy="1793875"/>
          </a:xfrm>
        </p:spPr>
        <p:txBody>
          <a:bodyPr/>
          <a:lstStyle/>
          <a:p>
            <a:pPr algn="ctr" eaLnBrk="1" hangingPunct="1"/>
            <a:r>
              <a:rPr lang="es-CO" altLang="es-CO" dirty="0"/>
              <a:t>VIVIAN CABANZO FERNÁNDEZ</a:t>
            </a:r>
            <a:br>
              <a:rPr lang="es-CO" altLang="es-CO" dirty="0"/>
            </a:br>
            <a:r>
              <a:rPr lang="es-CO" altLang="es-CO" dirty="0"/>
              <a:t>LAURA DANIELA DIAZ TORRES</a:t>
            </a:r>
            <a:br>
              <a:rPr lang="es-CO" altLang="es-CO" dirty="0"/>
            </a:br>
            <a:r>
              <a:rPr lang="es-CO" altLang="es-CO" dirty="0"/>
              <a:t>CRISTIAN FELIPE MUÑOZ GUERRERO</a:t>
            </a:r>
            <a:br>
              <a:rPr lang="es-CO" altLang="es-CO" dirty="0"/>
            </a:br>
            <a:r>
              <a:rPr lang="es-CO" altLang="es-CO" dirty="0"/>
              <a:t>ZENNETH OLIVERO TAPIA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A67B959-F5C7-E461-4D06-04057BB8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72" y="3284984"/>
            <a:ext cx="6400800" cy="323321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err="1"/>
              <a:t>Problem</a:t>
            </a:r>
            <a:r>
              <a:rPr lang="es-CO" b="1" dirty="0"/>
              <a:t> Set 3 – </a:t>
            </a:r>
            <a:r>
              <a:rPr lang="es-CO" b="1" dirty="0" err="1"/>
              <a:t>Making</a:t>
            </a:r>
            <a:r>
              <a:rPr lang="es-CO" b="1" dirty="0"/>
              <a:t> Money </a:t>
            </a:r>
            <a:r>
              <a:rPr lang="es-CO" b="1" dirty="0" err="1"/>
              <a:t>wit</a:t>
            </a:r>
            <a:r>
              <a:rPr lang="es-CO" b="1" dirty="0"/>
              <a:t> ML?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BIG DATA Y MACHINE LEARNING PARA ECONOMIA APLICADA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2025-02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/>
              <a:t>best_equipo_08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MEJOR MODELO RANDOM FOREST CV ESPACIAL</a:t>
            </a:r>
          </a:p>
        </p:txBody>
      </p:sp>
    </p:spTree>
    <p:extLst>
      <p:ext uri="{BB962C8B-B14F-4D97-AF65-F5344CB8AC3E}">
        <p14:creationId xmlns:p14="http://schemas.microsoft.com/office/powerpoint/2010/main" val="381758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46CC9CF-3B4E-D5D7-EF51-197780FA79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576" y="1916832"/>
                <a:ext cx="8388424" cy="41764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O" sz="1600" b="1" dirty="0"/>
                  <a:t>Razonamiento detrás del ensamble </a:t>
                </a:r>
                <a:r>
                  <a:rPr lang="es-CO" sz="1600" b="1" dirty="0" err="1"/>
                  <a:t>Random</a:t>
                </a:r>
                <a:r>
                  <a:rPr lang="es-CO" sz="1600" b="1" dirty="0"/>
                  <a:t> Forest con CV espacial</a:t>
                </a:r>
              </a:p>
              <a:p>
                <a:r>
                  <a:rPr lang="es-CO" sz="1600" b="1" dirty="0"/>
                  <a:t>Datos usados: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𝑒𝑠𝑡𝑟𝑢𝑐𝑡𝑢𝑟𝑎</m:t>
                              </m:r>
                            </m:sup>
                          </m:sSubSup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𝑎𝑚𝑒𝑛𝑖𝑑𝑎𝑑𝑒𝑠</m:t>
                              </m:r>
                            </m:sup>
                          </m:sSubSup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𝑑𝑖𝑠𝑡𝑎𝑛𝑐𝑖𝑎</m:t>
                              </m:r>
                            </m:sup>
                          </m:sSubSup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𝑙𝑜𝑐𝑎𝑐𝑖</m:t>
                              </m:r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𝑡𝑖𝑒𝑚𝑝𝑜</m:t>
                              </m:r>
                            </m:sup>
                          </m:sSubSup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𝑡𝑖𝑝𝑜</m:t>
                              </m:r>
                            </m:sup>
                          </m:sSubSup>
                        </m:e>
                      </m:d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es-CO" sz="1600" dirty="0"/>
                </a:br>
                <a:r>
                  <a:rPr lang="es-ES" sz="1600" dirty="0"/>
                  <a:t>La función f captura no linealidades e interacciones entre estructura, amenidades, distancias y ubicación.</a:t>
                </a:r>
                <a:endParaRPr lang="es-CO" sz="1600" dirty="0"/>
              </a:p>
              <a:p>
                <a:r>
                  <a:rPr lang="es-CO" sz="1600" b="1" dirty="0"/>
                  <a:t>Complementariedad estructural:</a:t>
                </a:r>
                <a:endParaRPr lang="es-CO" sz="1600" dirty="0"/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:r>
                  <a:rPr lang="en-US" altLang="en-US" sz="1600" dirty="0"/>
                  <a:t>Se </a:t>
                </a:r>
                <a:r>
                  <a:rPr lang="en-US" altLang="en-US" sz="1600" dirty="0" err="1"/>
                  <a:t>quitaron</a:t>
                </a:r>
                <a:r>
                  <a:rPr lang="en-US" altLang="en-US" sz="1600" dirty="0"/>
                  <a:t> columnas de </a:t>
                </a:r>
                <a:r>
                  <a:rPr lang="en-US" altLang="en-US" sz="1600" b="1" dirty="0" err="1"/>
                  <a:t>varianza</a:t>
                </a:r>
                <a:r>
                  <a:rPr lang="en-US" altLang="en-US" sz="1600" b="1" dirty="0"/>
                  <a:t> cero</a:t>
                </a:r>
                <a:r>
                  <a:rPr lang="en-US" altLang="en-US" sz="1600" dirty="0"/>
                  <a:t> y se </a:t>
                </a:r>
                <a:r>
                  <a:rPr lang="en-US" altLang="en-US" sz="1600" b="1" dirty="0" err="1"/>
                  <a:t>alinearon</a:t>
                </a:r>
                <a:r>
                  <a:rPr lang="en-US" altLang="en-US" sz="1600" b="1" dirty="0"/>
                  <a:t> </a:t>
                </a:r>
                <a:r>
                  <a:rPr lang="en-US" altLang="en-US" sz="1600" b="1" dirty="0" err="1"/>
                  <a:t>niveles</a:t>
                </a:r>
                <a:r>
                  <a:rPr lang="en-US" altLang="en-US" sz="1600" dirty="0"/>
                  <a:t> entre train/test.</a:t>
                </a:r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alt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alt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O" altLang="en-US" sz="1600" b="0" i="1" smtClean="0">
                            <a:latin typeface="Cambria Math" panose="02040503050406030204" pitchFamily="18" charset="0"/>
                          </a:rPr>
                          <m:t>𝑎𝑚𝑒𝑛𝑖𝑑𝑎𝑑𝑒𝑠</m:t>
                        </m:r>
                      </m:sup>
                    </m:sSubSup>
                  </m:oMath>
                </a14:m>
                <a:r>
                  <a:rPr lang="es-ES" sz="1600" dirty="0"/>
                  <a:t>     dummies indicando si cuenta con variables como garaje, etc.</a:t>
                </a:r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𝑒𝑠𝑡𝑟𝑢𝑐𝑡𝑢𝑟𝑎</m:t>
                        </m:r>
                      </m:sup>
                    </m:sSubSup>
                  </m:oMath>
                </a14:m>
                <a:r>
                  <a:rPr lang="es-ES" sz="1600" b="1" dirty="0"/>
                  <a:t>     </a:t>
                </a:r>
                <a:r>
                  <a:rPr lang="es-ES" sz="1600" dirty="0"/>
                  <a:t>cantidad de habitaciones, baños, superficie, etc.</a:t>
                </a:r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ES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𝑑𝑖𝑠𝑡𝑎𝑛𝑐𝑖𝑎</m:t>
                        </m:r>
                      </m:sup>
                    </m:sSubSup>
                  </m:oMath>
                </a14:m>
                <a:r>
                  <a:rPr lang="es-ES" sz="1600" dirty="0"/>
                  <a:t>     distancia a colegios, restaurantes etc.</a:t>
                </a:r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CO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𝑙𝑜𝑐𝑎𝑐𝑖</m:t>
                        </m:r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s-CO" sz="1600" dirty="0"/>
                  <a:t>      localidad y barrio.</a:t>
                </a:r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CO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𝑡𝑖𝑒𝑚𝑝𝑜</m:t>
                        </m:r>
                      </m:sup>
                    </m:sSubSup>
                  </m:oMath>
                </a14:m>
                <a:r>
                  <a:rPr lang="es-CO" sz="1600" dirty="0"/>
                  <a:t>     mes y año.</a:t>
                </a:r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CO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O" sz="1600" b="0" i="1" smtClean="0">
                            <a:latin typeface="Cambria Math" panose="02040503050406030204" pitchFamily="18" charset="0"/>
                          </a:rPr>
                          <m:t>𝑡𝑖𝑝𝑜</m:t>
                        </m:r>
                      </m:sup>
                    </m:sSubSup>
                  </m:oMath>
                </a14:m>
                <a:r>
                  <a:rPr lang="es-CO" sz="1600" dirty="0"/>
                  <a:t>      casa o apartamento.</a:t>
                </a:r>
              </a:p>
              <a:p>
                <a:pPr marL="800100" lvl="1" indent="-400050">
                  <a:spcBef>
                    <a:spcPct val="0"/>
                  </a:spcBef>
                  <a:buFont typeface="+mj-lt"/>
                  <a:buAutoNum type="romanLcPeriod"/>
                </a:pPr>
                <a:endParaRPr lang="en-US" altLang="en-US" sz="1600" dirty="0"/>
              </a:p>
              <a:p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46CC9CF-3B4E-D5D7-EF51-197780FA7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1916832"/>
                <a:ext cx="8388424" cy="4176464"/>
              </a:xfrm>
              <a:blipFill>
                <a:blip r:embed="rId2"/>
                <a:stretch>
                  <a:fillRect l="-436" t="-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D9FA43A4-DF03-B729-84EE-12CDB9E7439D}"/>
              </a:ext>
            </a:extLst>
          </p:cNvPr>
          <p:cNvSpPr/>
          <p:nvPr/>
        </p:nvSpPr>
        <p:spPr>
          <a:xfrm>
            <a:off x="2771800" y="3942120"/>
            <a:ext cx="144016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ACFDE850-490A-65D9-5B8D-EC847F8EBB3B}"/>
              </a:ext>
            </a:extLst>
          </p:cNvPr>
          <p:cNvSpPr/>
          <p:nvPr/>
        </p:nvSpPr>
        <p:spPr>
          <a:xfrm>
            <a:off x="2771800" y="4221088"/>
            <a:ext cx="144016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B7BA28A2-45D2-89CF-2AB9-CB96B7679DAC}"/>
              </a:ext>
            </a:extLst>
          </p:cNvPr>
          <p:cNvSpPr/>
          <p:nvPr/>
        </p:nvSpPr>
        <p:spPr>
          <a:xfrm>
            <a:off x="2555776" y="4509120"/>
            <a:ext cx="144016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31FCA4AB-E72F-B92A-7E33-45FAD502C46E}"/>
              </a:ext>
            </a:extLst>
          </p:cNvPr>
          <p:cNvSpPr/>
          <p:nvPr/>
        </p:nvSpPr>
        <p:spPr>
          <a:xfrm>
            <a:off x="2505168" y="4797152"/>
            <a:ext cx="144016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8822F0A-10F9-4736-9E33-998D201F854A}"/>
              </a:ext>
            </a:extLst>
          </p:cNvPr>
          <p:cNvSpPr/>
          <p:nvPr/>
        </p:nvSpPr>
        <p:spPr>
          <a:xfrm>
            <a:off x="2396952" y="5065560"/>
            <a:ext cx="144016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67DFCD23-5F26-A6AC-E5F6-CC2B37A8096C}"/>
              </a:ext>
            </a:extLst>
          </p:cNvPr>
          <p:cNvSpPr/>
          <p:nvPr/>
        </p:nvSpPr>
        <p:spPr>
          <a:xfrm>
            <a:off x="2195736" y="5373216"/>
            <a:ext cx="144016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20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23C73C8E-6C08-A6DF-5824-FAEB24E8D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916832"/>
            <a:ext cx="8229600" cy="500063"/>
          </a:xfrm>
        </p:spPr>
        <p:txBody>
          <a:bodyPr/>
          <a:lstStyle/>
          <a:p>
            <a:pPr algn="ctr"/>
            <a:r>
              <a:rPr lang="es-CO" altLang="es-CO" dirty="0" err="1"/>
              <a:t>Random</a:t>
            </a:r>
            <a:r>
              <a:rPr lang="es-CO" altLang="es-CO" dirty="0"/>
              <a:t> Forest CV espacial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F5ABE4-E37F-C457-F840-318F45C07DB3}"/>
              </a:ext>
            </a:extLst>
          </p:cNvPr>
          <p:cNvSpPr txBox="1"/>
          <p:nvPr/>
        </p:nvSpPr>
        <p:spPr>
          <a:xfrm>
            <a:off x="1043608" y="5013176"/>
            <a:ext cx="7165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Usando el CV espacial se generalizaron mejor las zonas no vistas. El ensamble por </a:t>
            </a:r>
            <a:r>
              <a:rPr lang="es-ES" dirty="0" err="1"/>
              <a:t>folds</a:t>
            </a:r>
            <a:r>
              <a:rPr lang="es-ES" dirty="0"/>
              <a:t> reduce varianza y el bosque capta no linealidades e interacciones entre tamaño, ubicación, distancias y amenidades, entregando predicciones estables sin sobreajuste.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09DD69-D753-B1D1-93EE-4D3287566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370580"/>
            <a:ext cx="8424780" cy="228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E733A3D-81DA-1927-89E1-BF089A3A9C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576" y="1484784"/>
                <a:ext cx="8146157" cy="46805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b="1" dirty="0"/>
                  <a:t>Validación por CV espacial</a:t>
                </a:r>
              </a:p>
              <a:p>
                <a:pPr marL="0" indent="0">
                  <a:buNone/>
                </a:pPr>
                <a:endParaRPr lang="es-MX" dirty="0"/>
              </a:p>
              <a:p>
                <a:r>
                  <a:rPr lang="es-ES" dirty="0"/>
                  <a:t>Valida por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𝑑𝑖𝑠𝑡𝑎𝑛𝑐𝑖𝑎</m:t>
                        </m:r>
                      </m:sup>
                    </m:sSubSup>
                  </m:oMath>
                </a14:m>
                <a:r>
                  <a:rPr lang="es-ES" dirty="0"/>
                  <a:t>, creando pliegues que no comparten área entre entrenamiento y validación (5 </a:t>
                </a:r>
                <a:r>
                  <a:rPr lang="es-ES" dirty="0" err="1"/>
                  <a:t>folds</a:t>
                </a:r>
                <a:r>
                  <a:rPr lang="es-ES" dirty="0"/>
                  <a:t>).</a:t>
                </a:r>
                <a:endParaRPr lang="es-MX" dirty="0"/>
              </a:p>
              <a:p>
                <a:pPr>
                  <a:spcBef>
                    <a:spcPct val="0"/>
                  </a:spcBef>
                </a:pPr>
                <a:r>
                  <a:rPr lang="en-US" altLang="en-US" b="1" dirty="0" err="1"/>
                  <a:t>Evidencia</a:t>
                </a:r>
                <a:r>
                  <a:rPr lang="en-US" altLang="en-US" b="1" dirty="0"/>
                  <a:t> </a:t>
                </a:r>
                <a:r>
                  <a:rPr lang="en-US" altLang="en-US" b="1" dirty="0" err="1"/>
                  <a:t>en</a:t>
                </a:r>
                <a:r>
                  <a:rPr lang="en-US" altLang="en-US" b="1" dirty="0"/>
                  <a:t> </a:t>
                </a:r>
                <a:r>
                  <a:rPr lang="en-US" altLang="en-US" b="1" dirty="0" err="1"/>
                  <a:t>nuestros</a:t>
                </a:r>
                <a:r>
                  <a:rPr lang="en-US" altLang="en-US" b="1" dirty="0"/>
                  <a:t> </a:t>
                </a:r>
                <a:r>
                  <a:rPr lang="en-US" altLang="en-US" b="1" dirty="0" err="1"/>
                  <a:t>resultados</a:t>
                </a:r>
                <a:r>
                  <a:rPr lang="en-US" altLang="en-US" b="1" dirty="0"/>
                  <a:t> (MAE):</a:t>
                </a:r>
              </a:p>
              <a:p>
                <a:pPr marL="857250" lvl="1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altLang="en-US" dirty="0"/>
                  <a:t>RF regular (CV </a:t>
                </a:r>
                <a:r>
                  <a:rPr lang="en-US" altLang="en-US" dirty="0" err="1"/>
                  <a:t>aleatoria</a:t>
                </a:r>
                <a:r>
                  <a:rPr lang="en-US" altLang="en-US" dirty="0"/>
                  <a:t>) → Kaggle 213,23 M.</a:t>
                </a:r>
              </a:p>
              <a:p>
                <a:pPr marL="857250" lvl="1" indent="-457200"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altLang="en-US" dirty="0"/>
                  <a:t>RF </a:t>
                </a:r>
                <a:r>
                  <a:rPr lang="en-US" altLang="en-US" dirty="0" err="1"/>
                  <a:t>espacial</a:t>
                </a:r>
                <a:r>
                  <a:rPr lang="en-US" altLang="en-US" dirty="0"/>
                  <a:t> (CV </a:t>
                </a:r>
                <a:r>
                  <a:rPr lang="en-US" altLang="en-US" dirty="0" err="1"/>
                  <a:t>por</a:t>
                </a:r>
                <a:r>
                  <a:rPr lang="en-US" altLang="en-US" dirty="0"/>
                  <a:t> zonas) → Kaggle 209,39 M.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dirty="0" err="1"/>
                  <a:t>Estimación</a:t>
                </a:r>
                <a:r>
                  <a:rPr lang="en-US" altLang="en-US" dirty="0"/>
                  <a:t> interna </a:t>
                </a:r>
                <a:r>
                  <a:rPr lang="en-US" altLang="en-US" dirty="0" err="1"/>
                  <a:t>más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realista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debido</a:t>
                </a:r>
                <a:r>
                  <a:rPr lang="en-US" altLang="en-US" dirty="0"/>
                  <a:t> a la </a:t>
                </a:r>
                <a:r>
                  <a:rPr lang="en-US" altLang="en-US" dirty="0" err="1"/>
                  <a:t>importancia</a:t>
                </a:r>
                <a:r>
                  <a:rPr lang="en-US" altLang="en-US" dirty="0"/>
                  <a:t> de la </a:t>
                </a:r>
                <a:r>
                  <a:rPr lang="en-US" altLang="en-US" dirty="0" err="1"/>
                  <a:t>ubicación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en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el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espacio</a:t>
                </a:r>
                <a:r>
                  <a:rPr lang="en-US" altLang="en-US" dirty="0"/>
                  <a:t> para </a:t>
                </a:r>
                <a:r>
                  <a:rPr lang="en-US" altLang="en-US" dirty="0" err="1"/>
                  <a:t>este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contexto</a:t>
                </a:r>
                <a:r>
                  <a:rPr lang="en-US" altLang="en-US" dirty="0"/>
                  <a:t>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dirty="0"/>
                  <a:t>Es major usar CV </a:t>
                </a:r>
                <a:r>
                  <a:rPr lang="en-US" altLang="en-US" dirty="0" err="1"/>
                  <a:t>espacial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cuando</a:t>
                </a:r>
                <a:r>
                  <a:rPr lang="en-US" altLang="en-US" dirty="0"/>
                  <a:t> las features </a:t>
                </a:r>
                <a:r>
                  <a:rPr lang="en-US" altLang="en-US" dirty="0" err="1"/>
                  <a:t>incluyen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ubicación</a:t>
                </a:r>
                <a:r>
                  <a:rPr lang="en-US" altLang="en-US" dirty="0"/>
                  <a:t> y se </a:t>
                </a:r>
                <a:r>
                  <a:rPr lang="en-US" altLang="en-US" dirty="0" err="1"/>
                  <a:t>espera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que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el</a:t>
                </a:r>
                <a:r>
                  <a:rPr lang="en-US" altLang="en-US" dirty="0"/>
                  <a:t> test </a:t>
                </a:r>
                <a:r>
                  <a:rPr lang="en-US" altLang="en-US" dirty="0" err="1"/>
                  <a:t>provenga</a:t>
                </a:r>
                <a:r>
                  <a:rPr lang="en-US" altLang="en-US" dirty="0"/>
                  <a:t> de zonas </a:t>
                </a:r>
                <a:r>
                  <a:rPr lang="en-US" altLang="en-US" dirty="0" err="1"/>
                  <a:t>distintas</a:t>
                </a:r>
                <a:r>
                  <a:rPr lang="en-US" altLang="en-US" dirty="0"/>
                  <a:t> al train.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dirty="0"/>
                  <a:t>Contra: algo </a:t>
                </a:r>
                <a:r>
                  <a:rPr lang="en-US" altLang="en-US" dirty="0" err="1"/>
                  <a:t>más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costosa</a:t>
                </a:r>
                <a:r>
                  <a:rPr lang="en-US" altLang="en-US" dirty="0"/>
                  <a:t> y con mayor </a:t>
                </a:r>
                <a:r>
                  <a:rPr lang="en-US" altLang="en-US" dirty="0" err="1"/>
                  <a:t>varianza</a:t>
                </a:r>
                <a:r>
                  <a:rPr lang="en-US" altLang="en-US" dirty="0"/>
                  <a:t> entre </a:t>
                </a:r>
                <a:r>
                  <a:rPr lang="en-US" altLang="en-US" dirty="0" err="1"/>
                  <a:t>pliegues</a:t>
                </a:r>
                <a:r>
                  <a:rPr lang="en-US" altLang="en-US" dirty="0"/>
                  <a:t>, </a:t>
                </a:r>
                <a:r>
                  <a:rPr lang="en-US" altLang="en-US" dirty="0" err="1"/>
                  <a:t>pero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resulta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mejor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el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entrenamiento</a:t>
                </a:r>
                <a:r>
                  <a:rPr lang="en-US" altLang="en-US" dirty="0"/>
                  <a:t> para </a:t>
                </a:r>
                <a:r>
                  <a:rPr lang="en-US" altLang="en-US" dirty="0" err="1"/>
                  <a:t>generalizar</a:t>
                </a:r>
                <a:r>
                  <a:rPr lang="en-US" altLang="en-US" dirty="0"/>
                  <a:t> fuera de </a:t>
                </a:r>
                <a:r>
                  <a:rPr lang="en-US" altLang="en-US" dirty="0" err="1"/>
                  <a:t>muestra</a:t>
                </a:r>
                <a:r>
                  <a:rPr lang="en-US" altLang="en-US" dirty="0"/>
                  <a:t>.</a:t>
                </a:r>
                <a:endParaRPr lang="es-MX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E733A3D-81DA-1927-89E1-BF089A3A9C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1484784"/>
                <a:ext cx="8146157" cy="4680520"/>
              </a:xfrm>
              <a:blipFill>
                <a:blip r:embed="rId2"/>
                <a:stretch>
                  <a:fillRect l="-823" t="-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104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308</Words>
  <Application>Microsoft Office PowerPoint</Application>
  <PresentationFormat>Presentación en pantalla (4:3)</PresentationFormat>
  <Paragraphs>31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 Math</vt:lpstr>
      <vt:lpstr>Tema de Office</vt:lpstr>
      <vt:lpstr>VIVIAN CABANZO FERNÁNDEZ LAURA DANIELA DIAZ TORRES CRISTIAN FELIPE MUÑOZ GUERRERO ZENNETH OLIVERO TAPIA</vt:lpstr>
      <vt:lpstr>Presentación de PowerPoint</vt:lpstr>
      <vt:lpstr>Random Forest CV espacial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EXT CRISTIAN FELIPE MUÑOZ GUERRERO</cp:lastModifiedBy>
  <cp:revision>62</cp:revision>
  <dcterms:created xsi:type="dcterms:W3CDTF">2008-03-12T20:06:52Z</dcterms:created>
  <dcterms:modified xsi:type="dcterms:W3CDTF">2025-11-25T02:24:41Z</dcterms:modified>
</cp:coreProperties>
</file>