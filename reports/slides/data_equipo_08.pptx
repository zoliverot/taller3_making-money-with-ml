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4" r:id="rId2"/>
    <p:sldId id="271" r:id="rId3"/>
    <p:sldId id="272" r:id="rId4"/>
    <p:sldId id="273" r:id="rId5"/>
    <p:sldId id="274" r:id="rId6"/>
    <p:sldId id="275" r:id="rId7"/>
    <p:sldId id="276" r:id="rId8"/>
    <p:sldId id="281" r:id="rId9"/>
    <p:sldId id="277" r:id="rId10"/>
    <p:sldId id="278" r:id="rId11"/>
    <p:sldId id="279" r:id="rId12"/>
    <p:sldId id="280" r:id="rId13"/>
    <p:sldId id="282" r:id="rId14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24/11/2025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5A61EF-A413-4572-B9C0-15D2EEC59714}" type="slidenum">
              <a:rPr lang="es-CO" altLang="es-CO" smtClean="0"/>
              <a:pPr/>
              <a:t>10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1154193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perati.com.co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with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construcción y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Random</a:t>
            </a:r>
            <a:r>
              <a:rPr lang="es-CO" altLang="es-CO" dirty="0"/>
              <a:t> Forest CV espacial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Usando el CV espacial se generalizaron mejor las zonas no vistas. El ensamble por </a:t>
            </a:r>
            <a:r>
              <a:rPr lang="es-ES" dirty="0" err="1"/>
              <a:t>folds</a:t>
            </a:r>
            <a:r>
              <a:rPr lang="es-ES" dirty="0"/>
              <a:t> reduce varianza y el bosque capta no linealidades e interacciones entre tamaño, ubicación, distancias y amenidades, entregando predicciones estables sin sobreajuste.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909DD69-D753-B1D1-93EE-4D32875660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370580"/>
            <a:ext cx="8424780" cy="228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3728" y="259698"/>
            <a:ext cx="5976664" cy="500063"/>
          </a:xfrm>
          <a:noFill/>
        </p:spPr>
        <p:txBody>
          <a:bodyPr/>
          <a:lstStyle/>
          <a:p>
            <a:pPr algn="ctr"/>
            <a:r>
              <a:rPr lang="es-CO" altLang="es-CO" dirty="0" smtClean="0"/>
              <a:t>BASES DE DATOS INICIALES</a:t>
            </a:r>
            <a:endParaRPr lang="es-CO" altLang="es-CO" dirty="0"/>
          </a:p>
        </p:txBody>
      </p:sp>
      <p:graphicFrame>
        <p:nvGraphicFramePr>
          <p:cNvPr id="2" name="Tabla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375893"/>
              </p:ext>
            </p:extLst>
          </p:nvPr>
        </p:nvGraphicFramePr>
        <p:xfrm>
          <a:off x="183867" y="1916832"/>
          <a:ext cx="8784976" cy="4662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1535">
                  <a:extLst>
                    <a:ext uri="{9D8B030D-6E8A-4147-A177-3AD203B41FA5}">
                      <a16:colId xmlns:a16="http://schemas.microsoft.com/office/drawing/2014/main" val="3476646677"/>
                    </a:ext>
                  </a:extLst>
                </a:gridCol>
                <a:gridCol w="2962273">
                  <a:extLst>
                    <a:ext uri="{9D8B030D-6E8A-4147-A177-3AD203B41FA5}">
                      <a16:colId xmlns:a16="http://schemas.microsoft.com/office/drawing/2014/main" val="1690731021"/>
                    </a:ext>
                  </a:extLst>
                </a:gridCol>
                <a:gridCol w="1407080">
                  <a:extLst>
                    <a:ext uri="{9D8B030D-6E8A-4147-A177-3AD203B41FA5}">
                      <a16:colId xmlns:a16="http://schemas.microsoft.com/office/drawing/2014/main" val="4208772456"/>
                    </a:ext>
                  </a:extLst>
                </a:gridCol>
                <a:gridCol w="2904088">
                  <a:extLst>
                    <a:ext uri="{9D8B030D-6E8A-4147-A177-3AD203B41FA5}">
                      <a16:colId xmlns:a16="http://schemas.microsoft.com/office/drawing/2014/main" val="1887854905"/>
                    </a:ext>
                  </a:extLst>
                </a:gridCol>
              </a:tblGrid>
              <a:tr h="296635"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 smtClean="0"/>
                        <a:t>VARIABLE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dirty="0" smtClean="0"/>
                        <a:t>DESCRIPCIÓN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 smtClean="0"/>
                        <a:t>VARIABLE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dirty="0" smtClean="0"/>
                        <a:t>DESCRIPCIÓN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752060"/>
                  </a:ext>
                </a:extLst>
              </a:tr>
              <a:tr h="673197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Property_id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CO" sz="1200" dirty="0" smtClean="0"/>
                        <a:t>Identificador único asignado a cada propiedad, usado para diferenciar registros y evitar duplicados.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b="1" dirty="0" err="1" smtClean="0"/>
                        <a:t>Bedrooms</a:t>
                      </a:r>
                      <a:r>
                        <a:rPr lang="es-CO" sz="1200" b="1" dirty="0" smtClean="0"/>
                        <a:t>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dirty="0" smtClean="0"/>
                        <a:t>Cantidad de habitaciones destinadas a dormitorio.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58024"/>
                  </a:ext>
                </a:extLst>
              </a:tr>
              <a:tr h="508252">
                <a:tc>
                  <a:txBody>
                    <a:bodyPr/>
                    <a:lstStyle/>
                    <a:p>
                      <a:r>
                        <a:rPr lang="es-CO" sz="1200" b="1" dirty="0" smtClean="0"/>
                        <a:t>City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Ciudad en la que se ubica la propiedad según la publicación en el portal.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Bathrooms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Número total de baños disponibles en la propiedad.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450302"/>
                  </a:ext>
                </a:extLst>
              </a:tr>
              <a:tr h="435012">
                <a:tc>
                  <a:txBody>
                    <a:bodyPr/>
                    <a:lstStyle/>
                    <a:p>
                      <a:r>
                        <a:rPr lang="es-CO" sz="1200" b="1" dirty="0" smtClean="0"/>
                        <a:t>Price: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Precio de venta ofertado para la propiedad, reportado directamente por el anunciante.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Property_type</a:t>
                      </a:r>
                      <a:r>
                        <a:rPr lang="es-CO" sz="1200" b="1" dirty="0" smtClean="0"/>
                        <a:t> 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CO" sz="1200" dirty="0" smtClean="0"/>
                        <a:t>Tipo de propiedad anunciada (casa o apartamento).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0212305"/>
                  </a:ext>
                </a:extLst>
              </a:tr>
              <a:tr h="476847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Month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dirty="0" smtClean="0"/>
                        <a:t>Mes de publicación del anuncio en el portal.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Operation_type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Tipo de operación del anuncio (venta o arriendo).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9445400"/>
                  </a:ext>
                </a:extLst>
              </a:tr>
              <a:tr h="296635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Year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dirty="0" smtClean="0"/>
                        <a:t>Año de publicación del anuncio.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Lat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Latitud geográfica de la propiedad.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23670"/>
                  </a:ext>
                </a:extLst>
              </a:tr>
              <a:tr h="609017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Surface_total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dirty="0" smtClean="0"/>
                        <a:t>Superficie total del inmueble en metros cuadrados (m2).</a:t>
                      </a:r>
                      <a:endParaRPr lang="es-CO" sz="1200" dirty="0" smtClean="0"/>
                    </a:p>
                    <a:p>
                      <a:pPr algn="just"/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Lon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Longitud geográfica de la propiedad, utilizada para ubicar espacialmente el inmueble.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830645"/>
                  </a:ext>
                </a:extLst>
              </a:tr>
              <a:tr h="609017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Surface_covered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dirty="0" smtClean="0"/>
                        <a:t>Superficie construida o cubierta del inmueble en m2. Puede diferir de la superficie total.</a:t>
                      </a:r>
                      <a:endParaRPr lang="es-CO" sz="120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Title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Tıtulo del anuncio publicado en el portal, usualmente con información breve y</a:t>
                      </a:r>
                      <a:r>
                        <a:rPr lang="es-MX" sz="1200" baseline="0" dirty="0" smtClean="0"/>
                        <a:t> </a:t>
                      </a:r>
                      <a:r>
                        <a:rPr lang="es-MX" sz="1200" dirty="0" smtClean="0"/>
                        <a:t>destacada.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527427"/>
                  </a:ext>
                </a:extLst>
              </a:tr>
              <a:tr h="673197"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Rooms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dirty="0" smtClean="0"/>
                        <a:t>Número total de ambientes o espacios de la vivienda (sala, comedor, estudio).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b="1" dirty="0" err="1" smtClean="0"/>
                        <a:t>Description</a:t>
                      </a:r>
                      <a:endParaRPr lang="es-CO" sz="12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s-MX" sz="1200" dirty="0" smtClean="0"/>
                        <a:t>Descripción de texto del anuncio con detalles adicionales sobre características del inmueble.</a:t>
                      </a:r>
                      <a:endParaRPr lang="es-CO" sz="12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470392"/>
                  </a:ext>
                </a:extLst>
              </a:tr>
            </a:tbl>
          </a:graphicData>
        </a:graphic>
      </p:graphicFrame>
      <p:sp>
        <p:nvSpPr>
          <p:cNvPr id="5" name="CuadroTexto 4"/>
          <p:cNvSpPr txBox="1"/>
          <p:nvPr/>
        </p:nvSpPr>
        <p:spPr>
          <a:xfrm>
            <a:off x="179512" y="861243"/>
            <a:ext cx="89644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MX" sz="1400" dirty="0" smtClean="0"/>
              <a:t>Las </a:t>
            </a:r>
            <a:r>
              <a:rPr lang="es-MX" sz="1400" dirty="0"/>
              <a:t>bases de datos iniciales de entrenamiento y de prueba, fueron construidas </a:t>
            </a:r>
            <a:r>
              <a:rPr lang="es-MX" sz="1400" dirty="0" smtClean="0"/>
              <a:t>a partir </a:t>
            </a:r>
            <a:r>
              <a:rPr lang="es-MX" sz="1400" dirty="0"/>
              <a:t>de los </a:t>
            </a:r>
            <a:r>
              <a:rPr lang="es-MX" sz="1400" dirty="0" smtClean="0"/>
              <a:t>datos recopilados </a:t>
            </a:r>
            <a:r>
              <a:rPr lang="es-MX" sz="1400" dirty="0"/>
              <a:t>del </a:t>
            </a:r>
            <a:r>
              <a:rPr lang="es-MX" sz="1400" dirty="0" smtClean="0"/>
              <a:t>portal web</a:t>
            </a:r>
            <a:r>
              <a:rPr lang="es-CO" sz="1400" dirty="0" smtClean="0"/>
              <a:t> </a:t>
            </a:r>
            <a:r>
              <a:rPr lang="es-CO" sz="1400" dirty="0" smtClean="0">
                <a:hlinkClick r:id="rId2"/>
              </a:rPr>
              <a:t>https://www.properati.com.co</a:t>
            </a:r>
            <a:endParaRPr lang="es-CO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400" dirty="0" smtClean="0"/>
              <a:t>train.csv cuenta con 38.644 observaciones y 16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sz="1400" dirty="0" smtClean="0"/>
              <a:t>test.csv cuenta con 10.286 observaciones y 16 variables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146094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39752" y="332656"/>
            <a:ext cx="6480720" cy="500062"/>
          </a:xfrm>
        </p:spPr>
        <p:txBody>
          <a:bodyPr/>
          <a:lstStyle/>
          <a:p>
            <a:r>
              <a:rPr lang="es-CO" dirty="0" smtClean="0"/>
              <a:t>DISTRIBUCIÓN ESPACIAL DE LAS BASES</a:t>
            </a:r>
            <a:endParaRPr lang="es-CO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77"/>
          <a:stretch/>
        </p:blipFill>
        <p:spPr>
          <a:xfrm>
            <a:off x="251520" y="1004828"/>
            <a:ext cx="7200800" cy="5760640"/>
          </a:xfrm>
        </p:spPr>
      </p:pic>
      <p:sp>
        <p:nvSpPr>
          <p:cNvPr id="5" name="CuadroTexto 4"/>
          <p:cNvSpPr txBox="1"/>
          <p:nvPr/>
        </p:nvSpPr>
        <p:spPr>
          <a:xfrm>
            <a:off x="5831632" y="3284984"/>
            <a:ext cx="32048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Clr>
                <a:srgbClr val="00B0F0"/>
              </a:buClr>
              <a:buFont typeface="Arial" panose="020B0604020202020204" pitchFamily="34" charset="0"/>
              <a:buChar char="■"/>
            </a:pPr>
            <a:r>
              <a:rPr lang="es-CO" dirty="0" smtClean="0"/>
              <a:t>Viviendas con información para el entrenamiento de modelos – Bogotá.</a:t>
            </a:r>
          </a:p>
          <a:p>
            <a:endParaRPr lang="es-CO" dirty="0"/>
          </a:p>
        </p:txBody>
      </p:sp>
      <p:sp>
        <p:nvSpPr>
          <p:cNvPr id="8" name="CuadroTexto 7"/>
          <p:cNvSpPr txBox="1"/>
          <p:nvPr/>
        </p:nvSpPr>
        <p:spPr>
          <a:xfrm>
            <a:off x="5831632" y="4797152"/>
            <a:ext cx="32048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Clr>
                <a:srgbClr val="FF0000"/>
              </a:buClr>
              <a:buFont typeface="Arial" panose="020B0604020202020204" pitchFamily="34" charset="0"/>
              <a:buChar char="■"/>
            </a:pPr>
            <a:r>
              <a:rPr lang="es-CO" dirty="0" smtClean="0"/>
              <a:t>Viviendas sobre las cuales se realizarán predicciones de precios de venta – Localidad de Chapinero.</a:t>
            </a:r>
          </a:p>
        </p:txBody>
      </p:sp>
      <p:sp>
        <p:nvSpPr>
          <p:cNvPr id="9" name="CuadroTexto 8"/>
          <p:cNvSpPr txBox="1"/>
          <p:nvPr/>
        </p:nvSpPr>
        <p:spPr>
          <a:xfrm flipH="1">
            <a:off x="6012161" y="1464893"/>
            <a:ext cx="31318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 smtClean="0"/>
              <a:t>Exploración espacial de las bases de datos, de acuerdo con las variables de Longitud y Latitud.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95771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123728" y="188640"/>
            <a:ext cx="6696744" cy="500062"/>
          </a:xfrm>
        </p:spPr>
        <p:txBody>
          <a:bodyPr/>
          <a:lstStyle/>
          <a:p>
            <a:r>
              <a:rPr lang="es-CO" dirty="0" smtClean="0"/>
              <a:t>DATOS FALTANTES POR BASE Y VARIABLE</a:t>
            </a:r>
            <a:endParaRPr lang="es-CO" dirty="0"/>
          </a:p>
        </p:txBody>
      </p:sp>
      <p:grpSp>
        <p:nvGrpSpPr>
          <p:cNvPr id="11" name="Grupo 10"/>
          <p:cNvGrpSpPr/>
          <p:nvPr/>
        </p:nvGrpSpPr>
        <p:grpSpPr>
          <a:xfrm>
            <a:off x="179512" y="1196752"/>
            <a:ext cx="6300192" cy="5552184"/>
            <a:chOff x="539552" y="1196752"/>
            <a:chExt cx="6300192" cy="5552184"/>
          </a:xfrm>
        </p:grpSpPr>
        <p:sp>
          <p:nvSpPr>
            <p:cNvPr id="10" name="CuadroTexto 9"/>
            <p:cNvSpPr txBox="1"/>
            <p:nvPr/>
          </p:nvSpPr>
          <p:spPr>
            <a:xfrm>
              <a:off x="539552" y="1196752"/>
              <a:ext cx="5976664" cy="46805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s-CO" dirty="0"/>
            </a:p>
          </p:txBody>
        </p:sp>
        <p:pic>
          <p:nvPicPr>
            <p:cNvPr id="9" name="Imagen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552" y="1262536"/>
              <a:ext cx="6300192" cy="5486400"/>
            </a:xfrm>
            <a:prstGeom prst="rect">
              <a:avLst/>
            </a:prstGeom>
          </p:spPr>
        </p:pic>
      </p:grpSp>
      <p:graphicFrame>
        <p:nvGraphicFramePr>
          <p:cNvPr id="13" name="Tabla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152141"/>
              </p:ext>
            </p:extLst>
          </p:nvPr>
        </p:nvGraphicFramePr>
        <p:xfrm>
          <a:off x="6300192" y="3537012"/>
          <a:ext cx="2736303" cy="2372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639">
                  <a:extLst>
                    <a:ext uri="{9D8B030D-6E8A-4147-A177-3AD203B41FA5}">
                      <a16:colId xmlns:a16="http://schemas.microsoft.com/office/drawing/2014/main" val="133567793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1110539568"/>
                    </a:ext>
                  </a:extLst>
                </a:gridCol>
                <a:gridCol w="755576">
                  <a:extLst>
                    <a:ext uri="{9D8B030D-6E8A-4147-A177-3AD203B41FA5}">
                      <a16:colId xmlns:a16="http://schemas.microsoft.com/office/drawing/2014/main" val="7762512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 smtClean="0"/>
                        <a:t>Variable</a:t>
                      </a:r>
                      <a:endParaRPr lang="es-CO" sz="1400" b="1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 smtClean="0"/>
                        <a:t>Train</a:t>
                      </a:r>
                      <a:endParaRPr lang="es-CO" sz="1400" b="1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 smtClean="0"/>
                        <a:t>Test</a:t>
                      </a:r>
                      <a:endParaRPr lang="es-CO" sz="1400" b="1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71489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 smtClean="0"/>
                        <a:t>Surface</a:t>
                      </a:r>
                      <a:r>
                        <a:rPr lang="es-CO" sz="1400" baseline="0" dirty="0" smtClean="0"/>
                        <a:t> total</a:t>
                      </a:r>
                      <a:endParaRPr lang="es-CO" sz="1400" dirty="0" smtClean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79,68%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81,88%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588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 smtClean="0"/>
                        <a:t>Surface</a:t>
                      </a:r>
                      <a:r>
                        <a:rPr lang="es-CO" sz="1400" baseline="0" dirty="0" smtClean="0"/>
                        <a:t> </a:t>
                      </a:r>
                      <a:r>
                        <a:rPr lang="es-CO" sz="1400" baseline="0" dirty="0" err="1" smtClean="0"/>
                        <a:t>covered</a:t>
                      </a:r>
                      <a:endParaRPr lang="es-CO" sz="1400" dirty="0" smtClean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77,84%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72,52%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148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 err="1" smtClean="0"/>
                        <a:t>Rooms</a:t>
                      </a:r>
                      <a:endParaRPr lang="es-CO" sz="1400" dirty="0" smtClean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47,25%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44,25%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9323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 err="1" smtClean="0"/>
                        <a:t>Bathrooms</a:t>
                      </a:r>
                      <a:endParaRPr lang="es-CO" sz="1400" dirty="0" smtClean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26,06%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24,22%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121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 smtClean="0"/>
                        <a:t>Price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0%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 smtClean="0"/>
                        <a:t>100%</a:t>
                      </a:r>
                      <a:endParaRPr lang="es-CO" sz="14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1933752"/>
                  </a:ext>
                </a:extLst>
              </a:tr>
            </a:tbl>
          </a:graphicData>
        </a:graphic>
      </p:graphicFrame>
      <p:sp>
        <p:nvSpPr>
          <p:cNvPr id="15" name="CuadroTexto 14"/>
          <p:cNvSpPr txBox="1"/>
          <p:nvPr/>
        </p:nvSpPr>
        <p:spPr>
          <a:xfrm>
            <a:off x="6300191" y="1664245"/>
            <a:ext cx="27363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dirty="0" smtClean="0"/>
              <a:t>Porcentaje de datos faltantes en las bases de entrenamiento y de prueba: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1621078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3272433" y="260648"/>
            <a:ext cx="3456384" cy="500062"/>
          </a:xfrm>
        </p:spPr>
        <p:txBody>
          <a:bodyPr/>
          <a:lstStyle/>
          <a:p>
            <a:r>
              <a:rPr lang="es-CO" dirty="0" smtClean="0"/>
              <a:t>VALORES ATÍPICOS</a:t>
            </a:r>
            <a:endParaRPr lang="es-CO" dirty="0"/>
          </a:p>
        </p:txBody>
      </p:sp>
      <p:sp>
        <p:nvSpPr>
          <p:cNvPr id="15" name="CuadroTexto 14"/>
          <p:cNvSpPr txBox="1"/>
          <p:nvPr/>
        </p:nvSpPr>
        <p:spPr>
          <a:xfrm>
            <a:off x="467544" y="1412776"/>
            <a:ext cx="3168352" cy="3384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CO" dirty="0"/>
          </a:p>
        </p:txBody>
      </p:sp>
      <p:grpSp>
        <p:nvGrpSpPr>
          <p:cNvPr id="19" name="Grupo 18"/>
          <p:cNvGrpSpPr/>
          <p:nvPr/>
        </p:nvGrpSpPr>
        <p:grpSpPr>
          <a:xfrm>
            <a:off x="128790" y="908720"/>
            <a:ext cx="8763690" cy="4968552"/>
            <a:chOff x="128790" y="1357699"/>
            <a:chExt cx="7827585" cy="4248472"/>
          </a:xfrm>
        </p:grpSpPr>
        <p:sp>
          <p:nvSpPr>
            <p:cNvPr id="17" name="CuadroTexto 16"/>
            <p:cNvSpPr txBox="1"/>
            <p:nvPr/>
          </p:nvSpPr>
          <p:spPr>
            <a:xfrm>
              <a:off x="128790" y="1357699"/>
              <a:ext cx="7827585" cy="424847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endParaRPr lang="es-CO" dirty="0"/>
            </a:p>
          </p:txBody>
        </p:sp>
        <p:pic>
          <p:nvPicPr>
            <p:cNvPr id="18" name="Imagen 1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7535" y="1424808"/>
              <a:ext cx="7808839" cy="3783872"/>
            </a:xfrm>
            <a:prstGeom prst="rect">
              <a:avLst/>
            </a:prstGeom>
          </p:spPr>
        </p:pic>
      </p:grpSp>
      <p:sp>
        <p:nvSpPr>
          <p:cNvPr id="20" name="CuadroTexto 19"/>
          <p:cNvSpPr txBox="1"/>
          <p:nvPr/>
        </p:nvSpPr>
        <p:spPr>
          <a:xfrm>
            <a:off x="149777" y="6036026"/>
            <a:ext cx="8814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L</a:t>
            </a:r>
            <a:r>
              <a:rPr lang="es-CO" dirty="0" smtClean="0"/>
              <a:t>a variable </a:t>
            </a:r>
            <a:r>
              <a:rPr lang="es-CO" dirty="0" err="1" smtClean="0"/>
              <a:t>Surface_total</a:t>
            </a:r>
            <a:r>
              <a:rPr lang="es-CO" dirty="0" smtClean="0"/>
              <a:t> a pesar de tener un porcentaje alto de faltantes, también presenta valores atípicos altos, con superficies superiores a los 2.000 m2.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4965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67744" y="260648"/>
            <a:ext cx="6480720" cy="500062"/>
          </a:xfrm>
        </p:spPr>
        <p:txBody>
          <a:bodyPr/>
          <a:lstStyle/>
          <a:p>
            <a:pPr algn="ctr"/>
            <a:r>
              <a:rPr lang="es-CO" dirty="0" smtClean="0"/>
              <a:t>ADECUACIÓN DE LOS DATOS Y CONSTRUCCIÓN DE NUEVAS VARIABLES</a:t>
            </a:r>
            <a:endParaRPr lang="es-CO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020733"/>
              </p:ext>
            </p:extLst>
          </p:nvPr>
        </p:nvGraphicFramePr>
        <p:xfrm>
          <a:off x="323528" y="1052736"/>
          <a:ext cx="8568952" cy="5308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2248">
                  <a:extLst>
                    <a:ext uri="{9D8B030D-6E8A-4147-A177-3AD203B41FA5}">
                      <a16:colId xmlns:a16="http://schemas.microsoft.com/office/drawing/2014/main" val="3945113222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3345321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b="1" dirty="0" smtClean="0"/>
                        <a:t>PROCESO</a:t>
                      </a:r>
                      <a:endParaRPr lang="es-CO" b="1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 smtClean="0"/>
                        <a:t>DESCRIPCIÓN</a:t>
                      </a:r>
                      <a:endParaRPr lang="es-CO" b="1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9219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 smtClean="0"/>
                        <a:t>Procesamiento</a:t>
                      </a:r>
                      <a:r>
                        <a:rPr lang="es-CO" baseline="0" dirty="0" smtClean="0"/>
                        <a:t> de texto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dirty="0" smtClean="0"/>
                        <a:t>Normalización y unificación de texto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dirty="0" smtClean="0"/>
                        <a:t>Diccionario</a:t>
                      </a:r>
                      <a:r>
                        <a:rPr lang="es-CO" baseline="0" dirty="0" smtClean="0"/>
                        <a:t> de palabras con atributos clave (parqueadero, balcón, patio, etc.)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err="1" smtClean="0"/>
                        <a:t>Tokenización</a:t>
                      </a:r>
                      <a:r>
                        <a:rPr lang="es-CO" baseline="0" dirty="0" smtClean="0"/>
                        <a:t> de palabras para identificar su presencia y frecuencia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Creación de 19 variables dicotómicas adicionales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474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 smtClean="0"/>
                        <a:t>Análisis</a:t>
                      </a:r>
                      <a:r>
                        <a:rPr lang="es-CO" baseline="0" dirty="0" smtClean="0"/>
                        <a:t> espacial y geográfico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Información de </a:t>
                      </a:r>
                      <a:r>
                        <a:rPr lang="es-CO" baseline="0" dirty="0" err="1" smtClean="0"/>
                        <a:t>OpenStreetMap</a:t>
                      </a:r>
                      <a:r>
                        <a:rPr lang="es-CO" baseline="0" dirty="0" smtClean="0"/>
                        <a:t> – OSM de Colombia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Delimitación de la ciudad de Bogotá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Identificación de puntos de interés urbano (parques, colegios, centros comerciales, restaurantes y autopistas), calculo de la distancia de las viviendas a dichos puntos.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Creación de 7 variables adicionales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06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 smtClean="0"/>
                        <a:t>Inclusión</a:t>
                      </a:r>
                      <a:r>
                        <a:rPr lang="es-CO" baseline="0" dirty="0" smtClean="0"/>
                        <a:t> del estrato socioeconómico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dirty="0" smtClean="0"/>
                        <a:t>Información</a:t>
                      </a:r>
                      <a:r>
                        <a:rPr lang="es-CO" baseline="0" dirty="0" smtClean="0"/>
                        <a:t> del DANE: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baseline="0" dirty="0" smtClean="0"/>
                        <a:t>i). U</a:t>
                      </a:r>
                      <a:r>
                        <a:rPr lang="es-CO" sz="18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 archivo geoespacial </a:t>
                      </a:r>
                      <a:r>
                        <a:rPr lang="es-CO" sz="1800" b="0" i="0" u="none" strike="noStrike" kern="1200" baseline="0" dirty="0" err="1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LOTE.gpkg</a:t>
                      </a:r>
                      <a:endParaRPr lang="es-CO" sz="18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8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ii). Una tabla estrato.csv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8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El proceso crea 1 variable que asocia a cada lote su estrato correspondiente.</a:t>
                      </a:r>
                      <a:endParaRPr lang="es-CO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985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489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275856" y="260648"/>
            <a:ext cx="4292525" cy="500062"/>
          </a:xfrm>
        </p:spPr>
        <p:txBody>
          <a:bodyPr/>
          <a:lstStyle/>
          <a:p>
            <a:r>
              <a:rPr lang="es-CO" dirty="0" smtClean="0"/>
              <a:t>ANÁLISIS GEOESPACIAL</a:t>
            </a:r>
            <a:endParaRPr lang="es-CO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66" y="908720"/>
            <a:ext cx="8423290" cy="554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20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67744" y="260648"/>
            <a:ext cx="7460877" cy="500062"/>
          </a:xfrm>
        </p:spPr>
        <p:txBody>
          <a:bodyPr/>
          <a:lstStyle/>
          <a:p>
            <a:pPr algn="ctr"/>
            <a:r>
              <a:rPr lang="es-CO" dirty="0" smtClean="0"/>
              <a:t>TRATAMIENTO DE DATOS FALTANTES Y VALORES ATÍPICOS</a:t>
            </a:r>
            <a:endParaRPr lang="es-CO" dirty="0"/>
          </a:p>
        </p:txBody>
      </p:sp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376593"/>
              </p:ext>
            </p:extLst>
          </p:nvPr>
        </p:nvGraphicFramePr>
        <p:xfrm>
          <a:off x="395536" y="982685"/>
          <a:ext cx="8568952" cy="5857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00200">
                  <a:extLst>
                    <a:ext uri="{9D8B030D-6E8A-4147-A177-3AD203B41FA5}">
                      <a16:colId xmlns:a16="http://schemas.microsoft.com/office/drawing/2014/main" val="3945113222"/>
                    </a:ext>
                  </a:extLst>
                </a:gridCol>
                <a:gridCol w="6768752">
                  <a:extLst>
                    <a:ext uri="{9D8B030D-6E8A-4147-A177-3AD203B41FA5}">
                      <a16:colId xmlns:a16="http://schemas.microsoft.com/office/drawing/2014/main" val="3345321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 smtClean="0"/>
                        <a:t>PROCESO</a:t>
                      </a:r>
                      <a:endParaRPr lang="es-CO" sz="1600" b="1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 smtClean="0"/>
                        <a:t>DESCRIPCIÓN</a:t>
                      </a:r>
                      <a:endParaRPr lang="es-CO" sz="1600" b="1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9219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Eliminación</a:t>
                      </a:r>
                      <a:r>
                        <a:rPr lang="es-CO" sz="1600" baseline="0" dirty="0" smtClean="0"/>
                        <a:t> de observaciones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600" baseline="0" dirty="0" smtClean="0"/>
                        <a:t>414 observaciones con descripción que indica que la propiedad no se encuentra en Bogotá a pesar de que su ciudad de registro indica que si.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600" baseline="0" dirty="0" smtClean="0"/>
                        <a:t>1.731 por el buffer o franja de 500 metros alrededor de Chapinero en la base de entrenamiento para evitar solapamiento y </a:t>
                      </a:r>
                      <a:r>
                        <a:rPr lang="es-CO" sz="1600" baseline="0" dirty="0" err="1" smtClean="0"/>
                        <a:t>autocorrelación</a:t>
                      </a:r>
                      <a:r>
                        <a:rPr lang="es-CO" sz="1600" baseline="0" dirty="0" smtClean="0"/>
                        <a:t> espacial.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600" baseline="0" dirty="0" smtClean="0"/>
                        <a:t>4.426 observaciones idénticas, análisis realizado por combinación de titulo, descripción, precio, latitud y longitud.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150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Imputación de Surface</a:t>
                      </a:r>
                      <a:r>
                        <a:rPr lang="es-CO" sz="1600" baseline="0" dirty="0" smtClean="0"/>
                        <a:t> total y superficie construida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CO" sz="1600" dirty="0" smtClean="0"/>
                        <a:t>Se identificaron los datos mayores</a:t>
                      </a:r>
                      <a:r>
                        <a:rPr lang="es-CO" sz="1600" baseline="0" dirty="0" smtClean="0"/>
                        <a:t> a 1.500 m2, se reemplazaron con NA para no perder la información de su registro.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MX" sz="1600" baseline="0" dirty="0" smtClean="0"/>
                        <a:t>Se asignó el valor de superficie construida cuando esta superaba a la superficie total reportada.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MX" sz="1600" baseline="0" dirty="0" smtClean="0"/>
                        <a:t>Si una de las dos superficies estaba disponible, se utilizó dicho valor para completar la variable faltante.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s-MX" sz="1600" baseline="0" dirty="0" smtClean="0"/>
                        <a:t>Los casos restantes se imputaron empleando la mediana de superficie, estimada no por lo valores totales sino por tipo de propiedad y número de habitaciones.</a:t>
                      </a:r>
                      <a:endParaRPr lang="es-CO" sz="1600" baseline="0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474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 smtClean="0"/>
                        <a:t>Imputación de Baños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MX" sz="1600" dirty="0" smtClean="0"/>
                        <a:t>Se implementó una regla de imputación basada en la cantidad de habitaciones y el tipo de</a:t>
                      </a:r>
                      <a:r>
                        <a:rPr lang="es-MX" sz="1600" baseline="0" dirty="0" smtClean="0"/>
                        <a:t> </a:t>
                      </a:r>
                      <a:r>
                        <a:rPr lang="es-MX" sz="1600" dirty="0" smtClean="0"/>
                        <a:t>propiedad, bajo el supuesto que toda vivienda debe contar con al menos un baño.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06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 smtClean="0"/>
                        <a:t>Imputación de Ambientes –</a:t>
                      </a:r>
                      <a:r>
                        <a:rPr lang="es-CO" sz="1600" baseline="0" dirty="0" smtClean="0"/>
                        <a:t> romos</a:t>
                      </a:r>
                      <a:endParaRPr lang="es-CO" sz="1600" dirty="0" smtClean="0"/>
                    </a:p>
                    <a:p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es-MX" sz="1600" dirty="0" smtClean="0"/>
                        <a:t>De manera análoga, se imputó la cantidad mínima de ambientes en función del tipo de propiedad, garantizando la presencia de, por lo menos, un espacio correspondiente a sala–comedor.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985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5197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67744" y="260648"/>
            <a:ext cx="6336704" cy="500062"/>
          </a:xfrm>
        </p:spPr>
        <p:txBody>
          <a:bodyPr/>
          <a:lstStyle/>
          <a:p>
            <a:pPr algn="ctr"/>
            <a:r>
              <a:rPr lang="es-CO" dirty="0" smtClean="0"/>
              <a:t>BASES DE DATOS FINALES</a:t>
            </a:r>
            <a:endParaRPr lang="es-CO" dirty="0"/>
          </a:p>
        </p:txBody>
      </p:sp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7086763"/>
              </p:ext>
            </p:extLst>
          </p:nvPr>
        </p:nvGraphicFramePr>
        <p:xfrm>
          <a:off x="467544" y="2180740"/>
          <a:ext cx="8517270" cy="46089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74431">
                  <a:extLst>
                    <a:ext uri="{9D8B030D-6E8A-4147-A177-3AD203B41FA5}">
                      <a16:colId xmlns:a16="http://schemas.microsoft.com/office/drawing/2014/main" val="455607071"/>
                    </a:ext>
                  </a:extLst>
                </a:gridCol>
                <a:gridCol w="1609945">
                  <a:extLst>
                    <a:ext uri="{9D8B030D-6E8A-4147-A177-3AD203B41FA5}">
                      <a16:colId xmlns:a16="http://schemas.microsoft.com/office/drawing/2014/main" val="1041887390"/>
                    </a:ext>
                  </a:extLst>
                </a:gridCol>
                <a:gridCol w="5132894">
                  <a:extLst>
                    <a:ext uri="{9D8B030D-6E8A-4147-A177-3AD203B41FA5}">
                      <a16:colId xmlns:a16="http://schemas.microsoft.com/office/drawing/2014/main" val="2508616770"/>
                    </a:ext>
                  </a:extLst>
                </a:gridCol>
              </a:tblGrid>
              <a:tr h="388241"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 smtClean="0"/>
                        <a:t>CATEGORÍA</a:t>
                      </a:r>
                      <a:endParaRPr lang="es-CO" sz="1600" b="1" dirty="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 smtClean="0"/>
                        <a:t>CANTIDAD</a:t>
                      </a:r>
                      <a:endParaRPr lang="es-CO" sz="1600" b="1" dirty="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="1" dirty="0" smtClean="0"/>
                        <a:t>VARIABLES</a:t>
                      </a:r>
                      <a:endParaRPr lang="es-CO" sz="1600" b="1" dirty="0"/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8303920"/>
                  </a:ext>
                </a:extLst>
              </a:tr>
              <a:tr h="619871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Variables Iniciales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16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Identificación de la propiedad, ciudad, precio, mes, año, superficie total,</a:t>
                      </a:r>
                    </a:p>
                    <a:p>
                      <a:r>
                        <a:rPr lang="es-MX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superficie construida, ambientes, baños, habitaciones, tipo de propiedad, tipo de operación del anuncio, latitud, longitud, título y descripción.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553589"/>
                  </a:ext>
                </a:extLst>
              </a:tr>
              <a:tr h="864096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Variables dicotómicas</a:t>
                      </a:r>
                      <a:r>
                        <a:rPr lang="es-CO" sz="1600" baseline="0" dirty="0" smtClean="0"/>
                        <a:t> a partir de texto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19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Presencia de: parqueadero o garaje, seguridad, ascensor, gimnasio, piscina, BBQ, salón social, zona infantil, balcón, terraza, patio, jardín exterior, chimenea, cocina integral, depósito, estudio, remodelado,</a:t>
                      </a:r>
                    </a:p>
                    <a:p>
                      <a:r>
                        <a:rPr lang="es-CO" sz="1600" dirty="0" smtClean="0"/>
                        <a:t>vista y pisos de vivienda.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5359131"/>
                  </a:ext>
                </a:extLst>
              </a:tr>
              <a:tr h="567288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Variables de distancia a puntos</a:t>
                      </a:r>
                      <a:r>
                        <a:rPr lang="es-CO" sz="1600" baseline="0" dirty="0" smtClean="0"/>
                        <a:t> de interés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5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Distancias a parques, colegios, restaurantes, autopistas y centros comerciales.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7037444"/>
                  </a:ext>
                </a:extLst>
              </a:tr>
              <a:tr h="388241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Otras variables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3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Localidad, barrio y estrato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831433"/>
                  </a:ext>
                </a:extLst>
              </a:tr>
              <a:tr h="388241"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TOTAL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43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smtClean="0"/>
                        <a:t>Variables</a:t>
                      </a:r>
                      <a:r>
                        <a:rPr lang="es-CO" sz="1600" baseline="0" dirty="0" smtClean="0"/>
                        <a:t> en train_final.csv y test_final.csv</a:t>
                      </a:r>
                      <a:endParaRPr lang="es-CO" sz="16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732613"/>
                  </a:ext>
                </a:extLst>
              </a:tr>
            </a:tbl>
          </a:graphicData>
        </a:graphic>
      </p:graphicFrame>
      <p:sp>
        <p:nvSpPr>
          <p:cNvPr id="5" name="CuadroTexto 4"/>
          <p:cNvSpPr txBox="1"/>
          <p:nvPr/>
        </p:nvSpPr>
        <p:spPr>
          <a:xfrm>
            <a:off x="467544" y="990757"/>
            <a:ext cx="8497978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es-MX" sz="1600" dirty="0" smtClean="0"/>
              <a:t>En resumen: La información </a:t>
            </a:r>
            <a:r>
              <a:rPr lang="es-MX" sz="1600" dirty="0"/>
              <a:t>final se obtuvo mediante la </a:t>
            </a:r>
            <a:r>
              <a:rPr lang="es-MX" sz="1600" dirty="0" smtClean="0"/>
              <a:t>unión </a:t>
            </a:r>
            <a:r>
              <a:rPr lang="es-MX" sz="1600" dirty="0"/>
              <a:t>y </a:t>
            </a:r>
            <a:r>
              <a:rPr lang="es-MX" sz="1600" dirty="0" smtClean="0"/>
              <a:t>depuración </a:t>
            </a:r>
            <a:r>
              <a:rPr lang="es-MX" sz="1600" dirty="0"/>
              <a:t>de las distintas fuentes </a:t>
            </a:r>
            <a:r>
              <a:rPr lang="es-MX" sz="1600" dirty="0" smtClean="0"/>
              <a:t>disponibles, incorporando </a:t>
            </a:r>
            <a:r>
              <a:rPr lang="es-MX" sz="1600" dirty="0"/>
              <a:t>transformaciones de variables, </a:t>
            </a:r>
            <a:r>
              <a:rPr lang="es-MX" sz="1600" dirty="0" smtClean="0"/>
              <a:t>extracción </a:t>
            </a:r>
            <a:r>
              <a:rPr lang="es-MX" sz="1600" dirty="0"/>
              <a:t>automatizada de atributos a partir del </a:t>
            </a:r>
            <a:r>
              <a:rPr lang="es-MX" sz="1600" dirty="0" smtClean="0"/>
              <a:t>texto, y </a:t>
            </a:r>
            <a:r>
              <a:rPr lang="es-MX" sz="1600" dirty="0"/>
              <a:t>la </a:t>
            </a:r>
            <a:r>
              <a:rPr lang="es-MX" sz="1600" dirty="0" smtClean="0"/>
              <a:t>creación </a:t>
            </a:r>
            <a:r>
              <a:rPr lang="es-MX" sz="1600" dirty="0"/>
              <a:t>de variables relacionadas con </a:t>
            </a:r>
            <a:r>
              <a:rPr lang="es-MX" sz="1600" dirty="0" smtClean="0"/>
              <a:t>características físicas</a:t>
            </a:r>
            <a:r>
              <a:rPr lang="es-MX" sz="1600" dirty="0"/>
              <a:t>, atributos </a:t>
            </a:r>
            <a:r>
              <a:rPr lang="es-MX" sz="1600" dirty="0" smtClean="0"/>
              <a:t>geográficos </a:t>
            </a:r>
            <a:r>
              <a:rPr lang="es-MX" sz="1600" dirty="0"/>
              <a:t>y </a:t>
            </a:r>
            <a:r>
              <a:rPr lang="es-MX" sz="1600" dirty="0" smtClean="0"/>
              <a:t>condiciones socioeconómicas</a:t>
            </a:r>
            <a:r>
              <a:rPr lang="es-MX" sz="1600" dirty="0"/>
              <a:t>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1091942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699792" y="260648"/>
            <a:ext cx="4796581" cy="500062"/>
          </a:xfrm>
        </p:spPr>
        <p:txBody>
          <a:bodyPr/>
          <a:lstStyle/>
          <a:p>
            <a:r>
              <a:rPr lang="es-CO" dirty="0" smtClean="0"/>
              <a:t>ESTADÍSTICAS DESCRIPTIVAS</a:t>
            </a:r>
            <a:endParaRPr lang="es-CO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" y="836712"/>
            <a:ext cx="8572500" cy="576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249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 bwMode="auto">
          <a:xfrm>
            <a:off x="2699792" y="260648"/>
            <a:ext cx="4796581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 kern="1200">
                <a:solidFill>
                  <a:schemeClr val="tx1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r>
              <a:rPr lang="es-CO" smtClean="0"/>
              <a:t>ESTADÍSTICAS DESCRIPTIVAS</a:t>
            </a:r>
            <a:endParaRPr lang="es-CO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836711"/>
            <a:ext cx="8280920" cy="5760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00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93785" y="1196752"/>
            <a:ext cx="8229600" cy="500062"/>
          </a:xfrm>
        </p:spPr>
        <p:txBody>
          <a:bodyPr/>
          <a:lstStyle/>
          <a:p>
            <a:pPr algn="ctr"/>
            <a:r>
              <a:rPr lang="es-CO" dirty="0" smtClean="0"/>
              <a:t>RELEVANCIA DE LA INFORMACIÓN PARA LA PREDICCIÓN DE PRECIOS DE VIVIENDA EN CHAPINERO</a:t>
            </a:r>
            <a:endParaRPr lang="es-CO" dirty="0"/>
          </a:p>
        </p:txBody>
      </p:sp>
      <p:sp>
        <p:nvSpPr>
          <p:cNvPr id="4" name="Rectángulo 3"/>
          <p:cNvSpPr/>
          <p:nvPr/>
        </p:nvSpPr>
        <p:spPr>
          <a:xfrm>
            <a:off x="1115616" y="2204864"/>
            <a:ext cx="748883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s-MX" sz="2400" dirty="0"/>
              <a:t>Las bases de datos consolidadas, resultado de los procesos previamente descritos, son  pertinentes para la predicción de precios de venta en la localidad de Chapinero, debido a que integran información que captura de manera adecuada los factores que explican la variación del valor de las viviendas en Bogotá.</a:t>
            </a:r>
            <a:endParaRPr lang="es-CO" sz="2400" dirty="0"/>
          </a:p>
        </p:txBody>
      </p:sp>
    </p:spTree>
    <p:extLst>
      <p:ext uri="{BB962C8B-B14F-4D97-AF65-F5344CB8AC3E}">
        <p14:creationId xmlns:p14="http://schemas.microsoft.com/office/powerpoint/2010/main" val="152116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737</TotalTime>
  <Words>1110</Words>
  <Application>Microsoft Office PowerPoint</Application>
  <PresentationFormat>Presentación en pantalla (4:3)</PresentationFormat>
  <Paragraphs>139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Tema de Office</vt:lpstr>
      <vt:lpstr>VIVIAN CABANZO FERNÁNDEZ LAURA DANIELA DIAZ TORRES CRISTIAN FELIPE MUÑOZ GUERRERO ZENNETH OLIVERO TAPIA</vt:lpstr>
      <vt:lpstr>Best model overview – Random Forest CV espacial</vt:lpstr>
      <vt:lpstr>BASES DE DATOS INICIALES</vt:lpstr>
      <vt:lpstr>DISTRIBUCIÓN ESPACIAL DE LAS BASES</vt:lpstr>
      <vt:lpstr>DATOS FALTANTES POR BASE Y VARIABLE</vt:lpstr>
      <vt:lpstr>VALORES ATÍPICOS</vt:lpstr>
      <vt:lpstr>ADECUACIÓN DE LOS DATOS Y CONSTRUCCIÓN DE NUEVAS VARIABLES</vt:lpstr>
      <vt:lpstr>ANÁLISIS GEOESPACIAL</vt:lpstr>
      <vt:lpstr>TRATAMIENTO DE DATOS FALTANTES Y VALORES ATÍPICOS</vt:lpstr>
      <vt:lpstr>BASES DE DATOS FINALES</vt:lpstr>
      <vt:lpstr>ESTADÍSTICAS DESCRIPTIVAS</vt:lpstr>
      <vt:lpstr>Presentación de PowerPoint</vt:lpstr>
      <vt:lpstr>RELEVANCIA DE LA INFORMACIÓN PARA LA PREDICCIÓN DE PRECIOS DE VIVIENDA EN CHAPINERO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Laura Diaz Torres</cp:lastModifiedBy>
  <cp:revision>104</cp:revision>
  <dcterms:created xsi:type="dcterms:W3CDTF">2008-03-12T20:06:52Z</dcterms:created>
  <dcterms:modified xsi:type="dcterms:W3CDTF">2025-11-25T03:43:15Z</dcterms:modified>
</cp:coreProperties>
</file>