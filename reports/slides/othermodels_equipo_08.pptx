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4" r:id="rId2"/>
    <p:sldId id="271" r:id="rId3"/>
    <p:sldId id="276" r:id="rId4"/>
    <p:sldId id="272" r:id="rId5"/>
    <p:sldId id="273" r:id="rId6"/>
    <p:sldId id="274" r:id="rId7"/>
    <p:sldId id="275" r:id="rId8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9DCD8A-416D-4996-BE60-E7BB308CC0EC}" v="41" dt="2025-11-25T00:20:52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339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vian Cabanzo Fernandez" userId="f1174a40-cb3d-4875-ad1e-a158f9473b83" providerId="ADAL" clId="{11C726C9-1691-4894-BB3E-C5250EEF8F8F}"/>
    <pc:docChg chg="undo custSel addSld modSld">
      <pc:chgData name="Vivian Cabanzo Fernandez" userId="f1174a40-cb3d-4875-ad1e-a158f9473b83" providerId="ADAL" clId="{11C726C9-1691-4894-BB3E-C5250EEF8F8F}" dt="2025-11-25T00:21:03.380" v="956" actId="20577"/>
      <pc:docMkLst>
        <pc:docMk/>
      </pc:docMkLst>
      <pc:sldChg chg="modSp new mod">
        <pc:chgData name="Vivian Cabanzo Fernandez" userId="f1174a40-cb3d-4875-ad1e-a158f9473b83" providerId="ADAL" clId="{11C726C9-1691-4894-BB3E-C5250EEF8F8F}" dt="2025-11-24T23:32:52.922" v="86" actId="20577"/>
        <pc:sldMkLst>
          <pc:docMk/>
          <pc:sldMk cId="1003365684" sldId="272"/>
        </pc:sldMkLst>
        <pc:spChg chg="mod">
          <ac:chgData name="Vivian Cabanzo Fernandez" userId="f1174a40-cb3d-4875-ad1e-a158f9473b83" providerId="ADAL" clId="{11C726C9-1691-4894-BB3E-C5250EEF8F8F}" dt="2025-11-24T23:29:58.306" v="45" actId="1076"/>
          <ac:spMkLst>
            <pc:docMk/>
            <pc:sldMk cId="1003365684" sldId="272"/>
            <ac:spMk id="2" creationId="{15F947F8-2285-E657-2BEC-823DE0499F85}"/>
          </ac:spMkLst>
        </pc:spChg>
        <pc:spChg chg="mod">
          <ac:chgData name="Vivian Cabanzo Fernandez" userId="f1174a40-cb3d-4875-ad1e-a158f9473b83" providerId="ADAL" clId="{11C726C9-1691-4894-BB3E-C5250EEF8F8F}" dt="2025-11-24T23:32:52.922" v="86" actId="20577"/>
          <ac:spMkLst>
            <pc:docMk/>
            <pc:sldMk cId="1003365684" sldId="272"/>
            <ac:spMk id="3" creationId="{B5DDC59F-29ED-A5A3-1CC3-40C5D4E6EA9F}"/>
          </ac:spMkLst>
        </pc:spChg>
      </pc:sldChg>
      <pc:sldChg chg="modSp new mod">
        <pc:chgData name="Vivian Cabanzo Fernandez" userId="f1174a40-cb3d-4875-ad1e-a158f9473b83" providerId="ADAL" clId="{11C726C9-1691-4894-BB3E-C5250EEF8F8F}" dt="2025-11-25T00:21:03.380" v="956" actId="20577"/>
        <pc:sldMkLst>
          <pc:docMk/>
          <pc:sldMk cId="3802532709" sldId="273"/>
        </pc:sldMkLst>
        <pc:spChg chg="mod">
          <ac:chgData name="Vivian Cabanzo Fernandez" userId="f1174a40-cb3d-4875-ad1e-a158f9473b83" providerId="ADAL" clId="{11C726C9-1691-4894-BB3E-C5250EEF8F8F}" dt="2025-11-24T23:42:05.037" v="285" actId="1076"/>
          <ac:spMkLst>
            <pc:docMk/>
            <pc:sldMk cId="3802532709" sldId="273"/>
            <ac:spMk id="2" creationId="{951705A2-5294-8655-33AA-5D0B95C3780A}"/>
          </ac:spMkLst>
        </pc:spChg>
        <pc:spChg chg="mod">
          <ac:chgData name="Vivian Cabanzo Fernandez" userId="f1174a40-cb3d-4875-ad1e-a158f9473b83" providerId="ADAL" clId="{11C726C9-1691-4894-BB3E-C5250EEF8F8F}" dt="2025-11-25T00:21:03.380" v="956" actId="20577"/>
          <ac:spMkLst>
            <pc:docMk/>
            <pc:sldMk cId="3802532709" sldId="273"/>
            <ac:spMk id="3" creationId="{F540565B-CDFF-F962-D79F-D947A7720000}"/>
          </ac:spMkLst>
        </pc:spChg>
      </pc:sldChg>
      <pc:sldChg chg="addSp delSp modSp new mod">
        <pc:chgData name="Vivian Cabanzo Fernandez" userId="f1174a40-cb3d-4875-ad1e-a158f9473b83" providerId="ADAL" clId="{11C726C9-1691-4894-BB3E-C5250EEF8F8F}" dt="2025-11-24T23:50:11.385" v="601" actId="20577"/>
        <pc:sldMkLst>
          <pc:docMk/>
          <pc:sldMk cId="572697629" sldId="274"/>
        </pc:sldMkLst>
        <pc:spChg chg="del mod">
          <ac:chgData name="Vivian Cabanzo Fernandez" userId="f1174a40-cb3d-4875-ad1e-a158f9473b83" providerId="ADAL" clId="{11C726C9-1691-4894-BB3E-C5250EEF8F8F}" dt="2025-11-24T23:44:43.313" v="334"/>
          <ac:spMkLst>
            <pc:docMk/>
            <pc:sldMk cId="572697629" sldId="274"/>
            <ac:spMk id="2" creationId="{EEFDD854-1E14-1666-0C8B-73C375957A97}"/>
          </ac:spMkLst>
        </pc:spChg>
        <pc:spChg chg="mod">
          <ac:chgData name="Vivian Cabanzo Fernandez" userId="f1174a40-cb3d-4875-ad1e-a158f9473b83" providerId="ADAL" clId="{11C726C9-1691-4894-BB3E-C5250EEF8F8F}" dt="2025-11-24T23:50:11.385" v="601" actId="20577"/>
          <ac:spMkLst>
            <pc:docMk/>
            <pc:sldMk cId="572697629" sldId="274"/>
            <ac:spMk id="3" creationId="{3D37CA5A-5533-2DDC-6029-25333532BCF1}"/>
          </ac:spMkLst>
        </pc:spChg>
        <pc:spChg chg="add mod">
          <ac:chgData name="Vivian Cabanzo Fernandez" userId="f1174a40-cb3d-4875-ad1e-a158f9473b83" providerId="ADAL" clId="{11C726C9-1691-4894-BB3E-C5250EEF8F8F}" dt="2025-11-24T23:44:53.266" v="352" actId="20577"/>
          <ac:spMkLst>
            <pc:docMk/>
            <pc:sldMk cId="572697629" sldId="274"/>
            <ac:spMk id="4" creationId="{A390886A-3CEC-B7BB-0BD8-4BE55973784D}"/>
          </ac:spMkLst>
        </pc:spChg>
      </pc:sldChg>
      <pc:sldChg chg="modSp new mod">
        <pc:chgData name="Vivian Cabanzo Fernandez" userId="f1174a40-cb3d-4875-ad1e-a158f9473b83" providerId="ADAL" clId="{11C726C9-1691-4894-BB3E-C5250EEF8F8F}" dt="2025-11-24T23:54:53.720" v="917" actId="113"/>
        <pc:sldMkLst>
          <pc:docMk/>
          <pc:sldMk cId="1369700349" sldId="275"/>
        </pc:sldMkLst>
        <pc:spChg chg="mod">
          <ac:chgData name="Vivian Cabanzo Fernandez" userId="f1174a40-cb3d-4875-ad1e-a158f9473b83" providerId="ADAL" clId="{11C726C9-1691-4894-BB3E-C5250EEF8F8F}" dt="2025-11-24T23:51:23.269" v="663" actId="20577"/>
          <ac:spMkLst>
            <pc:docMk/>
            <pc:sldMk cId="1369700349" sldId="275"/>
            <ac:spMk id="2" creationId="{3E578077-2DDC-81FF-834D-854B234245D9}"/>
          </ac:spMkLst>
        </pc:spChg>
        <pc:spChg chg="mod">
          <ac:chgData name="Vivian Cabanzo Fernandez" userId="f1174a40-cb3d-4875-ad1e-a158f9473b83" providerId="ADAL" clId="{11C726C9-1691-4894-BB3E-C5250EEF8F8F}" dt="2025-11-24T23:54:53.720" v="917" actId="113"/>
          <ac:spMkLst>
            <pc:docMk/>
            <pc:sldMk cId="1369700349" sldId="275"/>
            <ac:spMk id="3" creationId="{7FAB5137-806A-49C3-60ED-C96E2C2A5395}"/>
          </ac:spMkLst>
        </pc:spChg>
      </pc:sldChg>
      <pc:sldChg chg="addSp delSp modSp new mod">
        <pc:chgData name="Vivian Cabanzo Fernandez" userId="f1174a40-cb3d-4875-ad1e-a158f9473b83" providerId="ADAL" clId="{11C726C9-1691-4894-BB3E-C5250EEF8F8F}" dt="2025-11-25T00:20:52.726" v="955" actId="1076"/>
        <pc:sldMkLst>
          <pc:docMk/>
          <pc:sldMk cId="3107375035" sldId="276"/>
        </pc:sldMkLst>
        <pc:spChg chg="mod">
          <ac:chgData name="Vivian Cabanzo Fernandez" userId="f1174a40-cb3d-4875-ad1e-a158f9473b83" providerId="ADAL" clId="{11C726C9-1691-4894-BB3E-C5250EEF8F8F}" dt="2025-11-25T00:20:52.726" v="955" actId="1076"/>
          <ac:spMkLst>
            <pc:docMk/>
            <pc:sldMk cId="3107375035" sldId="276"/>
            <ac:spMk id="2" creationId="{EAB3B82D-52D1-51E2-8BFD-9D9D767A370C}"/>
          </ac:spMkLst>
        </pc:spChg>
        <pc:spChg chg="del">
          <ac:chgData name="Vivian Cabanzo Fernandez" userId="f1174a40-cb3d-4875-ad1e-a158f9473b83" providerId="ADAL" clId="{11C726C9-1691-4894-BB3E-C5250EEF8F8F}" dt="2025-11-25T00:17:00.050" v="919" actId="931"/>
          <ac:spMkLst>
            <pc:docMk/>
            <pc:sldMk cId="3107375035" sldId="276"/>
            <ac:spMk id="3" creationId="{1997E425-F6AC-9C7E-8DF1-5C99F956F2EF}"/>
          </ac:spMkLst>
        </pc:spChg>
        <pc:spChg chg="add del mod">
          <ac:chgData name="Vivian Cabanzo Fernandez" userId="f1174a40-cb3d-4875-ad1e-a158f9473b83" providerId="ADAL" clId="{11C726C9-1691-4894-BB3E-C5250EEF8F8F}" dt="2025-11-25T00:20:10.861" v="924" actId="931"/>
          <ac:spMkLst>
            <pc:docMk/>
            <pc:sldMk cId="3107375035" sldId="276"/>
            <ac:spMk id="6" creationId="{4F4D036B-4DCF-0E06-65CC-6F067C02AC8B}"/>
          </ac:spMkLst>
        </pc:spChg>
        <pc:picChg chg="add del mod">
          <ac:chgData name="Vivian Cabanzo Fernandez" userId="f1174a40-cb3d-4875-ad1e-a158f9473b83" providerId="ADAL" clId="{11C726C9-1691-4894-BB3E-C5250EEF8F8F}" dt="2025-11-25T00:17:13.330" v="923" actId="478"/>
          <ac:picMkLst>
            <pc:docMk/>
            <pc:sldMk cId="3107375035" sldId="276"/>
            <ac:picMk id="5" creationId="{8525682A-6A4D-89CF-D7E2-8314F488E9A1}"/>
          </ac:picMkLst>
        </pc:picChg>
        <pc:picChg chg="add mod">
          <ac:chgData name="Vivian Cabanzo Fernandez" userId="f1174a40-cb3d-4875-ad1e-a158f9473b83" providerId="ADAL" clId="{11C726C9-1691-4894-BB3E-C5250EEF8F8F}" dt="2025-11-25T00:20:44.303" v="932" actId="1076"/>
          <ac:picMkLst>
            <pc:docMk/>
            <pc:sldMk cId="3107375035" sldId="276"/>
            <ac:picMk id="8" creationId="{6BA3A0E9-ADAC-6994-CB8E-F0352545689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24/11/2025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</a:t>
            </a:r>
            <a:r>
              <a:rPr lang="es-CO" b="1"/>
              <a:t>Set 3 </a:t>
            </a:r>
            <a:r>
              <a:rPr lang="es-CO" b="1" dirty="0"/>
              <a:t>– </a:t>
            </a:r>
            <a:r>
              <a:rPr lang="es-CO" b="1" dirty="0" err="1"/>
              <a:t>Making</a:t>
            </a:r>
            <a:r>
              <a:rPr lang="es-CO" b="1" dirty="0"/>
              <a:t> Money </a:t>
            </a:r>
            <a:r>
              <a:rPr lang="es-CO" b="1" dirty="0" err="1"/>
              <a:t>with</a:t>
            </a:r>
            <a:r>
              <a:rPr lang="es-CO" b="1" dirty="0"/>
              <a:t> ML?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othermodels_equipo_08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>
                <a:latin typeface="Arial Black" panose="020B0A04020102020204" pitchFamily="34" charset="0"/>
              </a:rPr>
              <a:t>OTROS MODELOS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23C73C8E-6C08-A6DF-5824-FAEB24E8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916832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Random</a:t>
            </a:r>
            <a:r>
              <a:rPr lang="es-CO" altLang="es-CO" dirty="0"/>
              <a:t> Forest CV espacial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F5ABE4-E37F-C457-F840-318F45C07DB3}"/>
              </a:ext>
            </a:extLst>
          </p:cNvPr>
          <p:cNvSpPr txBox="1"/>
          <p:nvPr/>
        </p:nvSpPr>
        <p:spPr>
          <a:xfrm>
            <a:off x="1043608" y="5013176"/>
            <a:ext cx="71652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Usando el CV espacial se generalizaron mejor las zonas no vistas. El ensamble por </a:t>
            </a:r>
            <a:r>
              <a:rPr lang="es-ES" dirty="0" err="1"/>
              <a:t>folds</a:t>
            </a:r>
            <a:r>
              <a:rPr lang="es-ES" dirty="0"/>
              <a:t> reduce varianza y el bosque capta no linealidades e interacciones entre tamaño, ubicación, distancias y amenidades, entregando predicciones estables sin sobreajuste.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909DD69-D753-B1D1-93EE-4D3287566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2370580"/>
            <a:ext cx="8424780" cy="228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B3B82D-52D1-51E2-8BFD-9D9D767A3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897" y="1700808"/>
            <a:ext cx="8229600" cy="500062"/>
          </a:xfrm>
        </p:spPr>
        <p:txBody>
          <a:bodyPr/>
          <a:lstStyle/>
          <a:p>
            <a:r>
              <a:rPr lang="es-MX" dirty="0"/>
              <a:t>Comparativa de modelos</a:t>
            </a:r>
            <a:endParaRPr lang="es-CO" dirty="0"/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6BA3A0E9-ADAC-6994-CB8E-F035254568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43" b="28001"/>
          <a:stretch>
            <a:fillRect/>
          </a:stretch>
        </p:blipFill>
        <p:spPr>
          <a:xfrm>
            <a:off x="611560" y="2269942"/>
            <a:ext cx="8460432" cy="4527376"/>
          </a:xfrm>
        </p:spPr>
      </p:pic>
    </p:spTree>
    <p:extLst>
      <p:ext uri="{BB962C8B-B14F-4D97-AF65-F5344CB8AC3E}">
        <p14:creationId xmlns:p14="http://schemas.microsoft.com/office/powerpoint/2010/main" val="3107375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F947F8-2285-E657-2BEC-823DE0499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825" y="1628800"/>
            <a:ext cx="8229600" cy="500062"/>
          </a:xfrm>
        </p:spPr>
        <p:txBody>
          <a:bodyPr/>
          <a:lstStyle/>
          <a:p>
            <a:r>
              <a:rPr lang="es-MX" dirty="0"/>
              <a:t>Resumen de los 9 modelos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DDC59F-29ED-A5A3-1CC3-40C5D4E6EA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6492" y="2128862"/>
            <a:ext cx="7858125" cy="4143375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Los 9 modelos representan tres familias:</a:t>
            </a:r>
          </a:p>
          <a:p>
            <a:r>
              <a:rPr lang="es-MX" b="1" dirty="0"/>
              <a:t>Bosques aleatorios (RF) </a:t>
            </a:r>
          </a:p>
          <a:p>
            <a:r>
              <a:rPr lang="es-MX" b="1" dirty="0" err="1"/>
              <a:t>SuperLearner</a:t>
            </a:r>
            <a:r>
              <a:rPr lang="es-MX" b="1" dirty="0"/>
              <a:t> (ensambles híbridos)</a:t>
            </a:r>
          </a:p>
          <a:p>
            <a:r>
              <a:rPr lang="es-MX" b="1" dirty="0" err="1"/>
              <a:t>Boosting</a:t>
            </a:r>
            <a:r>
              <a:rPr lang="es-MX" b="1" dirty="0"/>
              <a:t> y modelos entrenados en </a:t>
            </a:r>
            <a:r>
              <a:rPr lang="es-MX" b="1" dirty="0" err="1"/>
              <a:t>Caret</a:t>
            </a:r>
            <a:endParaRPr lang="es-MX" b="1" dirty="0"/>
          </a:p>
          <a:p>
            <a:pPr marL="0" indent="0">
              <a:buNone/>
            </a:pPr>
            <a:endParaRPr lang="es-MX" b="1" dirty="0"/>
          </a:p>
          <a:p>
            <a:pPr marL="0" indent="0">
              <a:buNone/>
            </a:pPr>
            <a:r>
              <a:rPr lang="es-MX" dirty="0"/>
              <a:t>Hallazgo general:</a:t>
            </a:r>
          </a:p>
          <a:p>
            <a:r>
              <a:rPr lang="es-MX" dirty="0"/>
              <a:t>La diferencia entre </a:t>
            </a:r>
            <a:r>
              <a:rPr lang="es-MX" i="1" dirty="0"/>
              <a:t>validación aleatoria</a:t>
            </a:r>
            <a:r>
              <a:rPr lang="es-MX" dirty="0"/>
              <a:t> y </a:t>
            </a:r>
            <a:r>
              <a:rPr lang="es-MX" i="1" dirty="0"/>
              <a:t>validación espacial</a:t>
            </a:r>
            <a:r>
              <a:rPr lang="es-MX" dirty="0"/>
              <a:t> explica gran parte de las caídas en </a:t>
            </a:r>
            <a:r>
              <a:rPr lang="es-MX" dirty="0" err="1"/>
              <a:t>Kaggle</a:t>
            </a:r>
            <a:r>
              <a:rPr lang="es-MX" dirty="0"/>
              <a:t>.</a:t>
            </a:r>
          </a:p>
          <a:p>
            <a:r>
              <a:rPr lang="es-MX" dirty="0"/>
              <a:t>Los modelos entrenados con validación aleatoria tuvieron un MAE interno muy bajo, pero fallaron al generalizar.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b="1" dirty="0"/>
          </a:p>
          <a:p>
            <a:pPr marL="0" indent="0">
              <a:buNone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0336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705A2-5294-8655-33AA-5D0B95C37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250" y="1772816"/>
            <a:ext cx="8229600" cy="500062"/>
          </a:xfrm>
        </p:spPr>
        <p:txBody>
          <a:bodyPr/>
          <a:lstStyle/>
          <a:p>
            <a:r>
              <a:rPr lang="es-MX" dirty="0"/>
              <a:t>¿Por qué los </a:t>
            </a:r>
            <a:r>
              <a:rPr lang="es-MX" dirty="0" err="1"/>
              <a:t>Random</a:t>
            </a:r>
            <a:r>
              <a:rPr lang="es-MX" dirty="0"/>
              <a:t> Forest alternativos no ganaron?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40565B-CDFF-F962-D79F-D947A7720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563" y="2348880"/>
            <a:ext cx="7858125" cy="4143375"/>
          </a:xfrm>
        </p:spPr>
        <p:txBody>
          <a:bodyPr/>
          <a:lstStyle/>
          <a:p>
            <a:pPr marL="0" indent="0">
              <a:buNone/>
            </a:pPr>
            <a:r>
              <a:rPr lang="es-CO" sz="1400" b="1" u="sng" dirty="0"/>
              <a:t>Modelos: RF variante 1 y variante 2</a:t>
            </a:r>
          </a:p>
          <a:p>
            <a:r>
              <a:rPr lang="es-CO" sz="1400" dirty="0"/>
              <a:t>Mismo algoritmo y casi los mismos </a:t>
            </a:r>
            <a:r>
              <a:rPr lang="es-CO" sz="1400" dirty="0" err="1"/>
              <a:t>hiperparámetros</a:t>
            </a:r>
            <a:r>
              <a:rPr lang="es-CO" sz="1400" dirty="0"/>
              <a:t> que el RF ganador:</a:t>
            </a:r>
          </a:p>
          <a:p>
            <a:pPr marL="0" indent="0">
              <a:buNone/>
            </a:pPr>
            <a:endParaRPr lang="es-CO" sz="1400" b="1" dirty="0"/>
          </a:p>
          <a:p>
            <a:pPr marL="0" indent="0">
              <a:buNone/>
            </a:pPr>
            <a:r>
              <a:rPr lang="es-CO" sz="1400" b="1" u="sng" dirty="0"/>
              <a:t>Problema clave:</a:t>
            </a:r>
          </a:p>
          <a:p>
            <a:pPr marL="0" indent="0">
              <a:buNone/>
            </a:pPr>
            <a:r>
              <a:rPr lang="es-CO" sz="1400" b="1" dirty="0"/>
              <a:t>Validación aleatoria 5-fold</a:t>
            </a:r>
          </a:p>
          <a:p>
            <a:pPr lvl="1"/>
            <a:r>
              <a:rPr lang="es-CO" sz="1200" dirty="0"/>
              <a:t>mezcla viviendas cercanas.</a:t>
            </a:r>
          </a:p>
          <a:p>
            <a:pPr lvl="1"/>
            <a:r>
              <a:rPr lang="es-CO" sz="1200" dirty="0"/>
              <a:t>Fuga espacial → MAE interno artificialmente optimista (≈ 120M).</a:t>
            </a:r>
          </a:p>
          <a:p>
            <a:pPr lvl="1"/>
            <a:endParaRPr lang="es-CO" sz="1200" dirty="0"/>
          </a:p>
          <a:p>
            <a:pPr marL="457200" lvl="1" indent="0">
              <a:buNone/>
            </a:pPr>
            <a:endParaRPr lang="es-CO" sz="1400" dirty="0"/>
          </a:p>
          <a:p>
            <a:pPr marL="0" indent="0">
              <a:buNone/>
            </a:pPr>
            <a:r>
              <a:rPr lang="es-CO" sz="1400" b="1" u="sng" dirty="0"/>
              <a:t>Conclusión:</a:t>
            </a:r>
          </a:p>
          <a:p>
            <a:r>
              <a:rPr lang="es-CO" sz="1400" dirty="0"/>
              <a:t>Con la misma arquitectura, solo cambiar </a:t>
            </a:r>
            <a:r>
              <a:rPr lang="es-CO" sz="1400" i="1" dirty="0"/>
              <a:t>CV aleatoria → CV espacial</a:t>
            </a:r>
            <a:r>
              <a:rPr lang="es-CO" sz="1400" dirty="0"/>
              <a:t> define la diferencia entre “bueno” y “mejor del equipo”.</a:t>
            </a:r>
          </a:p>
          <a:p>
            <a:pPr marL="0" indent="0">
              <a:buNone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02532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D37CA5A-5533-2DDC-6029-25333532B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563" y="1700808"/>
            <a:ext cx="7858125" cy="4143375"/>
          </a:xfrm>
        </p:spPr>
        <p:txBody>
          <a:bodyPr/>
          <a:lstStyle/>
          <a:p>
            <a:pPr marL="0" indent="0">
              <a:buNone/>
            </a:pPr>
            <a:r>
              <a:rPr lang="es-MX" sz="1200" b="1" u="sng" dirty="0"/>
              <a:t>Problema estructural:</a:t>
            </a:r>
          </a:p>
          <a:p>
            <a:r>
              <a:rPr lang="es-MX" sz="1200" dirty="0" err="1"/>
              <a:t>SuperLearner</a:t>
            </a:r>
            <a:r>
              <a:rPr lang="es-MX" sz="1200" dirty="0"/>
              <a:t> no puede optimizar MAE internamente. El paquete </a:t>
            </a:r>
            <a:r>
              <a:rPr lang="es-MX" sz="1200" dirty="0" err="1"/>
              <a:t>Superlearner</a:t>
            </a:r>
            <a:r>
              <a:rPr lang="es-MX" sz="1200" dirty="0"/>
              <a:t> de R no lo permite directamente y se entrena bajo  la familia gaussiana.</a:t>
            </a:r>
          </a:p>
          <a:p>
            <a:r>
              <a:rPr lang="es-MX" sz="1200" dirty="0"/>
              <a:t>Trabajó bajo familia gaussiana → pérdida cuadrática (MSE/RMSE) = ajusta errores cuadrados</a:t>
            </a:r>
          </a:p>
          <a:p>
            <a:endParaRPr lang="es-MX" sz="1200" b="1" dirty="0"/>
          </a:p>
          <a:p>
            <a:pPr marL="0" indent="0">
              <a:buNone/>
            </a:pPr>
            <a:r>
              <a:rPr lang="es-MX" sz="1200" b="1" u="sng" dirty="0"/>
              <a:t>Implicación directa:</a:t>
            </a:r>
          </a:p>
          <a:p>
            <a:r>
              <a:rPr lang="es-MX" sz="1200" dirty="0"/>
              <a:t>Penaliza más unos pocos errores grandes en vez de reducir el MAE.</a:t>
            </a:r>
          </a:p>
          <a:p>
            <a:pPr marL="0" indent="0">
              <a:buNone/>
            </a:pPr>
            <a:endParaRPr lang="es-MX" sz="1200" b="1" dirty="0"/>
          </a:p>
          <a:p>
            <a:pPr marL="0" indent="0">
              <a:buNone/>
            </a:pPr>
            <a:r>
              <a:rPr lang="es-MX" sz="1200" b="1" u="sng" dirty="0"/>
              <a:t>Otros problemas según versión:</a:t>
            </a:r>
          </a:p>
          <a:p>
            <a:r>
              <a:rPr lang="es-MX" sz="1200" b="1" dirty="0"/>
              <a:t>SL básico:</a:t>
            </a:r>
            <a:endParaRPr lang="es-MX" sz="1200" dirty="0"/>
          </a:p>
          <a:p>
            <a:pPr lvl="1"/>
            <a:r>
              <a:rPr lang="es-MX" sz="1200" dirty="0"/>
              <a:t>filtra apartamentos, genera pocas interacciones</a:t>
            </a:r>
          </a:p>
          <a:p>
            <a:pPr marL="228600" indent="-171450"/>
            <a:r>
              <a:rPr lang="es-MX" sz="1200" b="1" dirty="0"/>
              <a:t>SL regularizado (</a:t>
            </a:r>
            <a:r>
              <a:rPr lang="es-MX" sz="1200" b="1" dirty="0" err="1"/>
              <a:t>GLMnet</a:t>
            </a:r>
            <a:r>
              <a:rPr lang="es-MX" sz="1200" b="1" dirty="0"/>
              <a:t> + RF + XGB):</a:t>
            </a:r>
            <a:endParaRPr lang="es-MX" sz="1200" dirty="0"/>
          </a:p>
          <a:p>
            <a:pPr lvl="1"/>
            <a:r>
              <a:rPr lang="es-MX" sz="1200" dirty="0"/>
              <a:t>Interacciones automáticas, eliminación de colinealidad</a:t>
            </a:r>
          </a:p>
          <a:p>
            <a:pPr lvl="1"/>
            <a:r>
              <a:rPr lang="es-MX" sz="1200" dirty="0"/>
              <a:t>CV aleatoria</a:t>
            </a:r>
          </a:p>
          <a:p>
            <a:r>
              <a:rPr lang="es-MX" sz="1200" b="1" dirty="0"/>
              <a:t>SL con CV espacial por localidad:</a:t>
            </a:r>
            <a:endParaRPr lang="es-MX" sz="1200" dirty="0"/>
          </a:p>
          <a:p>
            <a:pPr lvl="1"/>
            <a:r>
              <a:rPr lang="es-MX" sz="1200" dirty="0"/>
              <a:t>validación espacial muy gruesa (localidad = zona enorme)</a:t>
            </a:r>
            <a:endParaRPr lang="es-MX" sz="1200" b="1" dirty="0"/>
          </a:p>
          <a:p>
            <a:pPr indent="-285750"/>
            <a:r>
              <a:rPr lang="es-MX" sz="1200" b="1" dirty="0"/>
              <a:t>SL avanzado:</a:t>
            </a:r>
            <a:endParaRPr lang="es-MX" sz="1200" dirty="0"/>
          </a:p>
          <a:p>
            <a:pPr lvl="1"/>
            <a:r>
              <a:rPr lang="es-MX" sz="1200" dirty="0"/>
              <a:t>Mejor ingeniería de variables de toda la clase</a:t>
            </a:r>
          </a:p>
          <a:p>
            <a:pPr lvl="1"/>
            <a:r>
              <a:rPr lang="es-MX" sz="1200" dirty="0"/>
              <a:t>Pero CV aleatoria + RMSE interno → </a:t>
            </a:r>
            <a:r>
              <a:rPr lang="es-MX" sz="1200" b="1" dirty="0"/>
              <a:t>sobreajuste </a:t>
            </a:r>
            <a:r>
              <a:rPr lang="es-MX" sz="1200" b="1" dirty="0" err="1"/>
              <a:t>micro-local</a:t>
            </a:r>
            <a:endParaRPr lang="es-MX" sz="1200" b="1" dirty="0"/>
          </a:p>
          <a:p>
            <a:pPr lvl="1"/>
            <a:endParaRPr lang="es-MX" sz="1200" dirty="0"/>
          </a:p>
          <a:p>
            <a:pPr marL="0" indent="0">
              <a:buNone/>
            </a:pPr>
            <a:r>
              <a:rPr lang="es-MX" sz="1200" b="1" u="sng" dirty="0"/>
              <a:t>Conclusión:</a:t>
            </a:r>
          </a:p>
          <a:p>
            <a:r>
              <a:rPr lang="es-CO" sz="1400" dirty="0"/>
              <a:t>Métrica equivocada, </a:t>
            </a:r>
            <a:r>
              <a:rPr lang="es-CO" sz="1400" dirty="0" err="1"/>
              <a:t>espacialdad</a:t>
            </a:r>
            <a:r>
              <a:rPr lang="es-CO" sz="1400" dirty="0"/>
              <a:t> por localidad muy amplia.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A390886A-3CEC-B7BB-0BD8-4BE559737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184275"/>
            <a:ext cx="8229600" cy="500063"/>
          </a:xfrm>
        </p:spPr>
        <p:txBody>
          <a:bodyPr/>
          <a:lstStyle/>
          <a:p>
            <a:r>
              <a:rPr lang="es-MX" dirty="0"/>
              <a:t>¿Por qué los </a:t>
            </a:r>
            <a:r>
              <a:rPr lang="es-MX" dirty="0" err="1"/>
              <a:t>Superlearners</a:t>
            </a:r>
            <a:r>
              <a:rPr lang="es-MX" dirty="0"/>
              <a:t> no ganaron?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57269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78077-2DDC-81FF-834D-854B23424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708" y="1124744"/>
            <a:ext cx="8229600" cy="500062"/>
          </a:xfrm>
        </p:spPr>
        <p:txBody>
          <a:bodyPr/>
          <a:lstStyle/>
          <a:p>
            <a:r>
              <a:rPr lang="es-MX" dirty="0"/>
              <a:t>¿ Por qué el </a:t>
            </a:r>
            <a:r>
              <a:rPr lang="es-MX" dirty="0" err="1"/>
              <a:t>boosting</a:t>
            </a:r>
            <a:r>
              <a:rPr lang="es-MX" dirty="0"/>
              <a:t> y </a:t>
            </a:r>
            <a:r>
              <a:rPr lang="es-MX" dirty="0" err="1"/>
              <a:t>caret</a:t>
            </a:r>
            <a:r>
              <a:rPr lang="es-MX" dirty="0"/>
              <a:t> no ganaron?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AB5137-806A-49C3-60ED-C96E2C2A5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600" y="1772816"/>
            <a:ext cx="7858125" cy="4752528"/>
          </a:xfrm>
        </p:spPr>
        <p:txBody>
          <a:bodyPr/>
          <a:lstStyle/>
          <a:p>
            <a:pPr marL="0" indent="0">
              <a:buNone/>
            </a:pPr>
            <a:r>
              <a:rPr lang="es-CO" sz="1400" b="1" u="sng" dirty="0" err="1"/>
              <a:t>XGBoost</a:t>
            </a:r>
            <a:r>
              <a:rPr lang="es-CO" sz="1400" b="1" u="sng" dirty="0"/>
              <a:t> con métrica MAE</a:t>
            </a:r>
          </a:p>
          <a:p>
            <a:pPr marL="0" indent="0">
              <a:buNone/>
            </a:pPr>
            <a:endParaRPr lang="es-CO" sz="1400" b="1" u="sng" dirty="0"/>
          </a:p>
          <a:p>
            <a:pPr marL="0" indent="0">
              <a:buNone/>
            </a:pPr>
            <a:r>
              <a:rPr lang="es-CO" sz="1400" b="1" u="sng" dirty="0"/>
              <a:t>Problemas:</a:t>
            </a:r>
          </a:p>
          <a:p>
            <a:pPr lvl="1"/>
            <a:r>
              <a:rPr lang="es-CO" sz="1400" dirty="0"/>
              <a:t>validación aleatoria 5-fold</a:t>
            </a:r>
          </a:p>
          <a:p>
            <a:pPr lvl="1"/>
            <a:r>
              <a:rPr lang="es-CO" sz="1400" dirty="0"/>
              <a:t>aprende patrones </a:t>
            </a:r>
            <a:r>
              <a:rPr lang="es-CO" sz="1400" dirty="0" err="1"/>
              <a:t>micro-locales</a:t>
            </a:r>
            <a:endParaRPr lang="es-CO" sz="1400" dirty="0"/>
          </a:p>
          <a:p>
            <a:pPr lvl="1"/>
            <a:r>
              <a:rPr lang="es-CO" sz="1400" dirty="0"/>
              <a:t> MAE interno muy bajo → sobreoptimismo</a:t>
            </a:r>
          </a:p>
          <a:p>
            <a:pPr marL="0" indent="0">
              <a:buNone/>
            </a:pPr>
            <a:br>
              <a:rPr lang="es-CO" sz="1400" dirty="0"/>
            </a:br>
            <a:endParaRPr lang="es-CO" sz="1400" dirty="0"/>
          </a:p>
          <a:p>
            <a:pPr marL="0" indent="0">
              <a:buNone/>
            </a:pPr>
            <a:r>
              <a:rPr lang="es-CO" sz="1400" b="1" u="sng" dirty="0" err="1"/>
              <a:t>Caret</a:t>
            </a:r>
            <a:r>
              <a:rPr lang="es-CO" sz="1400" b="1" u="sng" dirty="0"/>
              <a:t> (RF–GBM–XGB)</a:t>
            </a:r>
          </a:p>
          <a:p>
            <a:pPr lvl="1"/>
            <a:r>
              <a:rPr lang="es-CO" sz="1200" dirty="0"/>
              <a:t> Se evaluaron 3 modelos con el mismo tratamiento de datos pero se seleccionó el que tuviera menor RMSE   → CARET</a:t>
            </a:r>
            <a:endParaRPr lang="es-CO" sz="1400" b="1" u="sng" dirty="0"/>
          </a:p>
          <a:p>
            <a:pPr marL="0" indent="0">
              <a:buNone/>
            </a:pPr>
            <a:r>
              <a:rPr lang="es-CO" sz="1400" b="1" u="sng" dirty="0"/>
              <a:t>Problemas:</a:t>
            </a:r>
          </a:p>
          <a:p>
            <a:pPr marL="0" indent="0">
              <a:buNone/>
            </a:pPr>
            <a:r>
              <a:rPr lang="es-CO" sz="1400" dirty="0"/>
              <a:t>Pipelines limpios y grillas amplias.</a:t>
            </a:r>
          </a:p>
          <a:p>
            <a:pPr marL="0" indent="0">
              <a:buNone/>
            </a:pPr>
            <a:r>
              <a:rPr lang="es-CO" sz="1400" dirty="0"/>
              <a:t>Pero:</a:t>
            </a:r>
          </a:p>
          <a:p>
            <a:pPr lvl="1"/>
            <a:r>
              <a:rPr lang="es-CO" sz="1400" dirty="0"/>
              <a:t>optimiza RMSE del log-precio</a:t>
            </a:r>
          </a:p>
          <a:p>
            <a:pPr lvl="1"/>
            <a:r>
              <a:rPr lang="es-CO" sz="1400" dirty="0"/>
              <a:t>transformación logarítmica desalineada con MAE real</a:t>
            </a:r>
          </a:p>
          <a:p>
            <a:pPr lvl="1"/>
            <a:r>
              <a:rPr lang="es-CO" sz="1400" dirty="0"/>
              <a:t>CV aleatoria</a:t>
            </a:r>
            <a:br>
              <a:rPr lang="es-CO" sz="1400" dirty="0"/>
            </a:b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13697003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467</Words>
  <Application>Microsoft Office PowerPoint</Application>
  <PresentationFormat>Presentación en pantalla (4:3)</PresentationFormat>
  <Paragraphs>72</Paragraphs>
  <Slides>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Calibri</vt:lpstr>
      <vt:lpstr>Tema de Office</vt:lpstr>
      <vt:lpstr>VIVIAN CABANZO FERNÁNDEZ LAURA DANIELA DIAZ TORRES CRISTIAN FELIPE MUÑOZ GUERRERO ZENETH OLIVERO TAPIA</vt:lpstr>
      <vt:lpstr>Best model overview – Random Forest CV espacial</vt:lpstr>
      <vt:lpstr>Comparativa de modelos</vt:lpstr>
      <vt:lpstr>Resumen de los 9 modelos</vt:lpstr>
      <vt:lpstr>¿Por qué los Random Forest alternativos no ganaron?</vt:lpstr>
      <vt:lpstr>¿Por qué los Superlearners no ganaron?</vt:lpstr>
      <vt:lpstr>¿ Por qué el boosting y caret no ganaron?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Vivian Cabanzo Fernandez</cp:lastModifiedBy>
  <cp:revision>63</cp:revision>
  <dcterms:created xsi:type="dcterms:W3CDTF">2008-03-12T20:06:52Z</dcterms:created>
  <dcterms:modified xsi:type="dcterms:W3CDTF">2025-11-25T00:21:07Z</dcterms:modified>
</cp:coreProperties>
</file>